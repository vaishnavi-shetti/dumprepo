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ca4bc73-5dce-00d9-9b9f-008e6cdc6b07}">
          <p14:sldIdLst>
            <p14:sldId id="256"/>
            <p14:sldId id="257"/>
            <p14:sldId id="258"/>
          </p14:sldIdLst>
        </p14:section>
        <p14:section name="Architecture" id="{87499a09-bcab-cb4c-07eb-26c14ecc0d6c}">
          <p14:sldIdLst>
            <p14:sldId id="259"/>
            <p14:sldId id="260"/>
            <p14:sldId id="261"/>
            <p14:sldId id="262"/>
            <p14:sldId id="263"/>
          </p14:sldIdLst>
        </p14:section>
        <p14:section name="Flows" id="{df9e6d05-5476-ba6f-b092-34c8b7ea640a}">
          <p14:sldIdLst>
            <p14:sldId id="264"/>
            <p14:sldId id="265"/>
            <p14:sldId id="266"/>
            <p14:sldId id="267"/>
            <p14:sldId id="268"/>
          </p14:sldIdLst>
        </p14:section>
        <p14:section name="Evaluation" id="{ebcacfac-6bd5-65bd-63e6-a8683750427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NVERSE Cover">
    <p:bg>
      <p:bgPr>
        <a:solidFill>
          <a:srgbClr val="FD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60350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NVERSE Content">
    <p:bg>
      <p:bgPr>
        <a:solidFill>
          <a:srgbClr val="FD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3774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86384" y="6355080"/>
            <a:ext cx="6400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VERSE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FAN</a:t>
            </a:r>
            <a:pPr algn="l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VERSE</a:t>
            </a:r>
            <a:endParaRPr lang="en-US" sz="66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737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Community Application</a:t>
            </a:r>
            <a:endParaRPr lang="en-US" sz="30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2468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Where your 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fandom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 comes alive.</a:t>
            </a:r>
            <a:endParaRPr lang="en-US" sz="2400" dirty="0"/>
          </a:p>
        </p:txBody>
      </p:sp>
      <p:sp>
        <p:nvSpPr>
          <p:cNvPr id="5" name="Description"/>
          <p:cNvSpPr txBox="1"/>
          <p:nvPr/>
        </p:nvSpPr>
        <p:spPr>
          <a:xfrm>
            <a:off x="640080" y="31089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microservices-based platform where fans connect, discover communities, share their passion, and interact with others.</a:t>
            </a:r>
            <a:endParaRPr lang="en-US" sz="1600" dirty="0"/>
          </a:p>
        </p:txBody>
      </p:sp>
      <p:sp>
        <p:nvSpPr>
          <p:cNvPr id="6" name="Visual Card"/>
          <p:cNvSpPr/>
          <p:nvPr/>
        </p:nvSpPr>
        <p:spPr>
          <a:xfrm>
            <a:off x="7132320" y="640080"/>
            <a:ext cx="4434840" cy="3749040"/>
          </a:xfrm>
          <a:prstGeom prst="roundRect">
            <a:avLst>
              <a:gd name="adj" fmla="val 6098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Connection"/>
          <p:cNvSpPr/>
          <p:nvPr/>
        </p:nvSpPr>
        <p:spPr>
          <a:xfrm>
            <a:off x="9349740" y="1097280"/>
            <a:ext cx="0" cy="12344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8" name="Connection"/>
          <p:cNvSpPr/>
          <p:nvPr/>
        </p:nvSpPr>
        <p:spPr>
          <a:xfrm flipV="1">
            <a:off x="9349740" y="171450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9" name="Connection"/>
          <p:cNvSpPr/>
          <p:nvPr/>
        </p:nvSpPr>
        <p:spPr>
          <a:xfrm>
            <a:off x="9349740" y="233172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0" name="Connection"/>
          <p:cNvSpPr/>
          <p:nvPr/>
        </p:nvSpPr>
        <p:spPr>
          <a:xfrm>
            <a:off x="9349740" y="2331720"/>
            <a:ext cx="0" cy="12344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Connection"/>
          <p:cNvSpPr/>
          <p:nvPr/>
        </p:nvSpPr>
        <p:spPr>
          <a:xfrm flipV="1">
            <a:off x="7963926" y="233172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2" name="Connection"/>
          <p:cNvSpPr/>
          <p:nvPr/>
        </p:nvSpPr>
        <p:spPr>
          <a:xfrm>
            <a:off x="7963926" y="171450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3" name="Node"/>
          <p:cNvSpPr/>
          <p:nvPr/>
        </p:nvSpPr>
        <p:spPr>
          <a:xfrm>
            <a:off x="9029700" y="77724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4" name="Image 0" descr="Community featu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960120"/>
            <a:ext cx="274320" cy="274320"/>
          </a:xfrm>
          <a:prstGeom prst="rect">
            <a:avLst/>
          </a:prstGeom>
        </p:spPr>
      </p:pic>
      <p:sp>
        <p:nvSpPr>
          <p:cNvPr id="15" name="Node"/>
          <p:cNvSpPr/>
          <p:nvPr/>
        </p:nvSpPr>
        <p:spPr>
          <a:xfrm>
            <a:off x="10415514" y="139446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6" name="Image 1" descr="Community featu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8394" y="1577340"/>
            <a:ext cx="274320" cy="274320"/>
          </a:xfrm>
          <a:prstGeom prst="rect">
            <a:avLst/>
          </a:prstGeom>
        </p:spPr>
      </p:pic>
      <p:sp>
        <p:nvSpPr>
          <p:cNvPr id="17" name="Node"/>
          <p:cNvSpPr/>
          <p:nvPr/>
        </p:nvSpPr>
        <p:spPr>
          <a:xfrm>
            <a:off x="10415514" y="262890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8" name="Image 2" descr="Community featur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394" y="2811780"/>
            <a:ext cx="274320" cy="274320"/>
          </a:xfrm>
          <a:prstGeom prst="rect">
            <a:avLst/>
          </a:prstGeom>
        </p:spPr>
      </p:pic>
      <p:sp>
        <p:nvSpPr>
          <p:cNvPr id="19" name="Node"/>
          <p:cNvSpPr/>
          <p:nvPr/>
        </p:nvSpPr>
        <p:spPr>
          <a:xfrm>
            <a:off x="9029700" y="324612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0" name="Image 3" descr="Community featur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0" y="3429000"/>
            <a:ext cx="274320" cy="274320"/>
          </a:xfrm>
          <a:prstGeom prst="rect">
            <a:avLst/>
          </a:prstGeom>
        </p:spPr>
      </p:pic>
      <p:sp>
        <p:nvSpPr>
          <p:cNvPr id="21" name="Node"/>
          <p:cNvSpPr/>
          <p:nvPr/>
        </p:nvSpPr>
        <p:spPr>
          <a:xfrm>
            <a:off x="7643886" y="262890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2" name="Image 4" descr="Community featu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766" y="2811780"/>
            <a:ext cx="274320" cy="274320"/>
          </a:xfrm>
          <a:prstGeom prst="rect">
            <a:avLst/>
          </a:prstGeom>
        </p:spPr>
      </p:pic>
      <p:sp>
        <p:nvSpPr>
          <p:cNvPr id="23" name="Node"/>
          <p:cNvSpPr/>
          <p:nvPr/>
        </p:nvSpPr>
        <p:spPr>
          <a:xfrm>
            <a:off x="7643886" y="139446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4" name="Image 5" descr="Community featur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766" y="1577340"/>
            <a:ext cx="274320" cy="274320"/>
          </a:xfrm>
          <a:prstGeom prst="rect">
            <a:avLst/>
          </a:prstGeom>
        </p:spPr>
      </p:pic>
      <p:sp>
        <p:nvSpPr>
          <p:cNvPr id="25" name="Center Node"/>
          <p:cNvSpPr/>
          <p:nvPr/>
        </p:nvSpPr>
        <p:spPr>
          <a:xfrm>
            <a:off x="8801100" y="1783080"/>
            <a:ext cx="1097280" cy="10972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26" name="Image 6" descr="Fan communit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5420" y="2112264"/>
            <a:ext cx="548640" cy="438912"/>
          </a:xfrm>
          <a:prstGeom prst="rect">
            <a:avLst/>
          </a:prstGeom>
        </p:spPr>
      </p:pic>
      <p:sp>
        <p:nvSpPr>
          <p:cNvPr id="27" name="Visual Caption"/>
          <p:cNvSpPr txBox="1"/>
          <p:nvPr/>
        </p:nvSpPr>
        <p:spPr>
          <a:xfrm>
            <a:off x="7132320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Connect   •   Discover   •   Share</a:t>
            </a:r>
            <a:endParaRPr lang="en-US" sz="1300" dirty="0"/>
          </a:p>
        </p:txBody>
      </p:sp>
      <p:sp>
        <p:nvSpPr>
          <p:cNvPr id="28" name="Team Label"/>
          <p:cNvSpPr txBox="1"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29" name="Team Card 1"/>
          <p:cNvSpPr/>
          <p:nvPr/>
        </p:nvSpPr>
        <p:spPr>
          <a:xfrm>
            <a:off x="640080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Avatar"/>
          <p:cNvSpPr/>
          <p:nvPr/>
        </p:nvSpPr>
        <p:spPr>
          <a:xfrm>
            <a:off x="841248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1" name="Image 7" descr="Team memb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490972"/>
            <a:ext cx="219456" cy="219456"/>
          </a:xfrm>
          <a:prstGeom prst="rect">
            <a:avLst/>
          </a:prstGeom>
        </p:spPr>
      </p:pic>
      <p:sp>
        <p:nvSpPr>
          <p:cNvPr id="32" name="Team Name 1"/>
          <p:cNvSpPr txBox="1"/>
          <p:nvPr/>
        </p:nvSpPr>
        <p:spPr>
          <a:xfrm>
            <a:off x="1527048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Nandan Kamaraddi</a:t>
            </a:r>
            <a:endParaRPr lang="en-US" sz="1500" dirty="0"/>
          </a:p>
        </p:txBody>
      </p:sp>
      <p:sp>
        <p:nvSpPr>
          <p:cNvPr id="33" name="Team Card 2"/>
          <p:cNvSpPr/>
          <p:nvPr/>
        </p:nvSpPr>
        <p:spPr>
          <a:xfrm>
            <a:off x="3424428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Avatar"/>
          <p:cNvSpPr/>
          <p:nvPr/>
        </p:nvSpPr>
        <p:spPr>
          <a:xfrm>
            <a:off x="3625596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5" name="Image 8" descr="Team memb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0188" y="5490972"/>
            <a:ext cx="219456" cy="219456"/>
          </a:xfrm>
          <a:prstGeom prst="rect">
            <a:avLst/>
          </a:prstGeom>
        </p:spPr>
      </p:pic>
      <p:sp>
        <p:nvSpPr>
          <p:cNvPr id="36" name="Team Name 2"/>
          <p:cNvSpPr txBox="1"/>
          <p:nvPr/>
        </p:nvSpPr>
        <p:spPr>
          <a:xfrm>
            <a:off x="4311396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Neha Nayak</a:t>
            </a:r>
            <a:endParaRPr lang="en-US" sz="1500" dirty="0"/>
          </a:p>
        </p:txBody>
      </p:sp>
      <p:sp>
        <p:nvSpPr>
          <p:cNvPr id="37" name="Team Card 3"/>
          <p:cNvSpPr/>
          <p:nvPr/>
        </p:nvSpPr>
        <p:spPr>
          <a:xfrm>
            <a:off x="6208776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8" name="Avatar"/>
          <p:cNvSpPr/>
          <p:nvPr/>
        </p:nvSpPr>
        <p:spPr>
          <a:xfrm>
            <a:off x="6409944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9" name="Image 9" descr="Team memb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4536" y="5490972"/>
            <a:ext cx="219456" cy="219456"/>
          </a:xfrm>
          <a:prstGeom prst="rect">
            <a:avLst/>
          </a:prstGeom>
        </p:spPr>
      </p:pic>
      <p:sp>
        <p:nvSpPr>
          <p:cNvPr id="40" name="Team Name 3"/>
          <p:cNvSpPr txBox="1"/>
          <p:nvPr/>
        </p:nvSpPr>
        <p:spPr>
          <a:xfrm>
            <a:off x="7095744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Vajapeyayajula Sreelasya</a:t>
            </a:r>
            <a:endParaRPr lang="en-US" sz="1500" dirty="0"/>
          </a:p>
        </p:txBody>
      </p:sp>
      <p:sp>
        <p:nvSpPr>
          <p:cNvPr id="41" name="Team Card 4"/>
          <p:cNvSpPr/>
          <p:nvPr/>
        </p:nvSpPr>
        <p:spPr>
          <a:xfrm>
            <a:off x="8993124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2" name="Avatar"/>
          <p:cNvSpPr/>
          <p:nvPr/>
        </p:nvSpPr>
        <p:spPr>
          <a:xfrm>
            <a:off x="9194292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3" name="Image 10" descr="Team memb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8884" y="5490972"/>
            <a:ext cx="219456" cy="219456"/>
          </a:xfrm>
          <a:prstGeom prst="rect">
            <a:avLst/>
          </a:prstGeom>
        </p:spPr>
      </p:pic>
      <p:sp>
        <p:nvSpPr>
          <p:cNvPr id="44" name="Team Name 4"/>
          <p:cNvSpPr txBox="1"/>
          <p:nvPr/>
        </p:nvSpPr>
        <p:spPr>
          <a:xfrm>
            <a:off x="9880092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Vaishnavi Shetti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Presentation Contents</a:t>
            </a:r>
            <a:endParaRPr lang="en-US" sz="3400" dirty="0"/>
          </a:p>
        </p:txBody>
      </p:sp>
      <p:sp>
        <p:nvSpPr>
          <p:cNvPr id="3" name="Agenda Card 1"/>
          <p:cNvSpPr/>
          <p:nvPr/>
        </p:nvSpPr>
        <p:spPr>
          <a:xfrm>
            <a:off x="548640" y="1371600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" name="Agenda Icon Circle"/>
          <p:cNvSpPr/>
          <p:nvPr/>
        </p:nvSpPr>
        <p:spPr>
          <a:xfrm>
            <a:off x="777240" y="1581912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5" name="Image 0" descr="Project Introdu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37360"/>
            <a:ext cx="274320" cy="274320"/>
          </a:xfrm>
          <a:prstGeom prst="rect">
            <a:avLst/>
          </a:prstGeom>
        </p:spPr>
      </p:pic>
      <p:sp>
        <p:nvSpPr>
          <p:cNvPr id="6" name="Agenda Label 1"/>
          <p:cNvSpPr txBox="1"/>
          <p:nvPr/>
        </p:nvSpPr>
        <p:spPr>
          <a:xfrm>
            <a:off x="1536192" y="137160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Introduction</a:t>
            </a:r>
            <a:endParaRPr lang="en-US" sz="1200" dirty="0"/>
          </a:p>
        </p:txBody>
      </p:sp>
      <p:sp>
        <p:nvSpPr>
          <p:cNvPr id="7" name="Agenda Card 2"/>
          <p:cNvSpPr/>
          <p:nvPr/>
        </p:nvSpPr>
        <p:spPr>
          <a:xfrm>
            <a:off x="4320540" y="1371600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Agenda Icon Circle"/>
          <p:cNvSpPr/>
          <p:nvPr/>
        </p:nvSpPr>
        <p:spPr>
          <a:xfrm>
            <a:off x="4549140" y="1581912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9" name="Image 1" descr="Problem Statement and Sol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1737360"/>
            <a:ext cx="274320" cy="274320"/>
          </a:xfrm>
          <a:prstGeom prst="rect">
            <a:avLst/>
          </a:prstGeom>
        </p:spPr>
      </p:pic>
      <p:sp>
        <p:nvSpPr>
          <p:cNvPr id="10" name="Agenda Label 2"/>
          <p:cNvSpPr txBox="1"/>
          <p:nvPr/>
        </p:nvSpPr>
        <p:spPr>
          <a:xfrm>
            <a:off x="5308092" y="137160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Problem Statement and Solution</a:t>
            </a:r>
            <a:endParaRPr lang="en-US" sz="1200" dirty="0"/>
          </a:p>
        </p:txBody>
      </p:sp>
      <p:sp>
        <p:nvSpPr>
          <p:cNvPr id="11" name="Agenda Card 3"/>
          <p:cNvSpPr/>
          <p:nvPr/>
        </p:nvSpPr>
        <p:spPr>
          <a:xfrm>
            <a:off x="8092440" y="1371600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Agenda Icon Circle"/>
          <p:cNvSpPr/>
          <p:nvPr/>
        </p:nvSpPr>
        <p:spPr>
          <a:xfrm>
            <a:off x="8321040" y="1581912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3" name="Image 2" descr="Technology St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737360"/>
            <a:ext cx="274320" cy="274320"/>
          </a:xfrm>
          <a:prstGeom prst="rect">
            <a:avLst/>
          </a:prstGeom>
        </p:spPr>
      </p:pic>
      <p:sp>
        <p:nvSpPr>
          <p:cNvPr id="14" name="Agenda Label 3"/>
          <p:cNvSpPr txBox="1"/>
          <p:nvPr/>
        </p:nvSpPr>
        <p:spPr>
          <a:xfrm>
            <a:off x="9079992" y="137160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15" name="Agenda Card 4"/>
          <p:cNvSpPr/>
          <p:nvPr/>
        </p:nvSpPr>
        <p:spPr>
          <a:xfrm>
            <a:off x="548640" y="2578608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Agenda Icon Circle"/>
          <p:cNvSpPr/>
          <p:nvPr/>
        </p:nvSpPr>
        <p:spPr>
          <a:xfrm>
            <a:off x="777240" y="2788920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7" name="Image 3" descr="Frontend Architect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944368"/>
            <a:ext cx="274320" cy="274320"/>
          </a:xfrm>
          <a:prstGeom prst="rect">
            <a:avLst/>
          </a:prstGeom>
        </p:spPr>
      </p:pic>
      <p:sp>
        <p:nvSpPr>
          <p:cNvPr id="18" name="Agenda Label 4"/>
          <p:cNvSpPr txBox="1"/>
          <p:nvPr/>
        </p:nvSpPr>
        <p:spPr>
          <a:xfrm>
            <a:off x="1536192" y="257860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Frontend Architecture</a:t>
            </a:r>
            <a:endParaRPr lang="en-US" sz="1200" dirty="0"/>
          </a:p>
        </p:txBody>
      </p:sp>
      <p:sp>
        <p:nvSpPr>
          <p:cNvPr id="19" name="Agenda Card 5"/>
          <p:cNvSpPr/>
          <p:nvPr/>
        </p:nvSpPr>
        <p:spPr>
          <a:xfrm>
            <a:off x="4320540" y="2578608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Agenda Icon Circle"/>
          <p:cNvSpPr/>
          <p:nvPr/>
        </p:nvSpPr>
        <p:spPr>
          <a:xfrm>
            <a:off x="4549140" y="2788920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1" name="Image 4" descr="Backend Microservices Architectu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88" y="2944368"/>
            <a:ext cx="274320" cy="274320"/>
          </a:xfrm>
          <a:prstGeom prst="rect">
            <a:avLst/>
          </a:prstGeom>
        </p:spPr>
      </p:pic>
      <p:sp>
        <p:nvSpPr>
          <p:cNvPr id="22" name="Agenda Label 5"/>
          <p:cNvSpPr txBox="1"/>
          <p:nvPr/>
        </p:nvSpPr>
        <p:spPr>
          <a:xfrm>
            <a:off x="5308092" y="257860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 Microservices Architecture</a:t>
            </a:r>
            <a:endParaRPr lang="en-US" sz="1200" dirty="0"/>
          </a:p>
        </p:txBody>
      </p:sp>
      <p:sp>
        <p:nvSpPr>
          <p:cNvPr id="23" name="Agenda Card 6"/>
          <p:cNvSpPr/>
          <p:nvPr/>
        </p:nvSpPr>
        <p:spPr>
          <a:xfrm>
            <a:off x="8092440" y="2578608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Agenda Icon Circle"/>
          <p:cNvSpPr/>
          <p:nvPr/>
        </p:nvSpPr>
        <p:spPr>
          <a:xfrm>
            <a:off x="8321040" y="2788920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5" name="Image 5" descr="DevOps and AWS Deployme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2944368"/>
            <a:ext cx="274320" cy="274320"/>
          </a:xfrm>
          <a:prstGeom prst="rect">
            <a:avLst/>
          </a:prstGeom>
        </p:spPr>
      </p:pic>
      <p:sp>
        <p:nvSpPr>
          <p:cNvPr id="26" name="Agenda Label 6"/>
          <p:cNvSpPr txBox="1"/>
          <p:nvPr/>
        </p:nvSpPr>
        <p:spPr>
          <a:xfrm>
            <a:off x="9079992" y="257860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DevOps and AWS Deployment</a:t>
            </a:r>
            <a:endParaRPr lang="en-US" sz="1200" dirty="0"/>
          </a:p>
        </p:txBody>
      </p:sp>
      <p:sp>
        <p:nvSpPr>
          <p:cNvPr id="27" name="Agenda Card 7"/>
          <p:cNvSpPr/>
          <p:nvPr/>
        </p:nvSpPr>
        <p:spPr>
          <a:xfrm>
            <a:off x="548640" y="3785616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Agenda Icon Circle"/>
          <p:cNvSpPr/>
          <p:nvPr/>
        </p:nvSpPr>
        <p:spPr>
          <a:xfrm>
            <a:off x="777240" y="3995928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9" name="Image 6" descr="General System Fl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151376"/>
            <a:ext cx="274320" cy="274320"/>
          </a:xfrm>
          <a:prstGeom prst="rect">
            <a:avLst/>
          </a:prstGeom>
        </p:spPr>
      </p:pic>
      <p:sp>
        <p:nvSpPr>
          <p:cNvPr id="30" name="Agenda Label 7"/>
          <p:cNvSpPr txBox="1"/>
          <p:nvPr/>
        </p:nvSpPr>
        <p:spPr>
          <a:xfrm>
            <a:off x="1536192" y="3785616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General System Flow</a:t>
            </a:r>
            <a:endParaRPr lang="en-US" sz="1200" dirty="0"/>
          </a:p>
        </p:txBody>
      </p:sp>
      <p:sp>
        <p:nvSpPr>
          <p:cNvPr id="31" name="Agenda Card 8"/>
          <p:cNvSpPr/>
          <p:nvPr/>
        </p:nvSpPr>
        <p:spPr>
          <a:xfrm>
            <a:off x="4320540" y="3785616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Agenda Icon Circle"/>
          <p:cNvSpPr/>
          <p:nvPr/>
        </p:nvSpPr>
        <p:spPr>
          <a:xfrm>
            <a:off x="4549140" y="3995928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3" name="Image 7" descr="User Application Flo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4588" y="4151376"/>
            <a:ext cx="274320" cy="274320"/>
          </a:xfrm>
          <a:prstGeom prst="rect">
            <a:avLst/>
          </a:prstGeom>
        </p:spPr>
      </p:pic>
      <p:sp>
        <p:nvSpPr>
          <p:cNvPr id="34" name="Agenda Label 8"/>
          <p:cNvSpPr txBox="1"/>
          <p:nvPr/>
        </p:nvSpPr>
        <p:spPr>
          <a:xfrm>
            <a:off x="5308092" y="3785616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 Application Flow</a:t>
            </a:r>
            <a:endParaRPr lang="en-US" sz="1200" dirty="0"/>
          </a:p>
        </p:txBody>
      </p:sp>
      <p:sp>
        <p:nvSpPr>
          <p:cNvPr id="35" name="Agenda Card 9"/>
          <p:cNvSpPr/>
          <p:nvPr/>
        </p:nvSpPr>
        <p:spPr>
          <a:xfrm>
            <a:off x="8092440" y="3785616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6" name="Agenda Icon Circle"/>
          <p:cNvSpPr/>
          <p:nvPr/>
        </p:nvSpPr>
        <p:spPr>
          <a:xfrm>
            <a:off x="8321040" y="3995928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7" name="Image 8" descr="Role-Based Workflow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4151376"/>
            <a:ext cx="274320" cy="274320"/>
          </a:xfrm>
          <a:prstGeom prst="rect">
            <a:avLst/>
          </a:prstGeom>
        </p:spPr>
      </p:pic>
      <p:sp>
        <p:nvSpPr>
          <p:cNvPr id="38" name="Agenda Label 9"/>
          <p:cNvSpPr txBox="1"/>
          <p:nvPr/>
        </p:nvSpPr>
        <p:spPr>
          <a:xfrm>
            <a:off x="9079992" y="3785616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09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Role-Based Workflows</a:t>
            </a:r>
            <a:endParaRPr lang="en-US" sz="1200" dirty="0"/>
          </a:p>
        </p:txBody>
      </p:sp>
      <p:sp>
        <p:nvSpPr>
          <p:cNvPr id="39" name="Agenda Card 10"/>
          <p:cNvSpPr/>
          <p:nvPr/>
        </p:nvSpPr>
        <p:spPr>
          <a:xfrm>
            <a:off x="2435962" y="4992624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0" name="Agenda Icon Circle"/>
          <p:cNvSpPr/>
          <p:nvPr/>
        </p:nvSpPr>
        <p:spPr>
          <a:xfrm>
            <a:off x="2664562" y="5202936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1" name="Image 9" descr="Non-Functional Requirements (NFRs)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0010" y="5358384"/>
            <a:ext cx="274320" cy="274320"/>
          </a:xfrm>
          <a:prstGeom prst="rect">
            <a:avLst/>
          </a:prstGeom>
        </p:spPr>
      </p:pic>
      <p:sp>
        <p:nvSpPr>
          <p:cNvPr id="42" name="Agenda Label 10"/>
          <p:cNvSpPr txBox="1"/>
          <p:nvPr/>
        </p:nvSpPr>
        <p:spPr>
          <a:xfrm>
            <a:off x="3423514" y="4992624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Non-Functional Requirements (NFRs)</a:t>
            </a:r>
            <a:endParaRPr lang="en-US" sz="1200" dirty="0"/>
          </a:p>
        </p:txBody>
      </p:sp>
      <p:sp>
        <p:nvSpPr>
          <p:cNvPr id="43" name="Agenda Card 11"/>
          <p:cNvSpPr/>
          <p:nvPr/>
        </p:nvSpPr>
        <p:spPr>
          <a:xfrm>
            <a:off x="6207862" y="4992624"/>
            <a:ext cx="3547872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4" name="Agenda Icon Circle"/>
          <p:cNvSpPr/>
          <p:nvPr/>
        </p:nvSpPr>
        <p:spPr>
          <a:xfrm>
            <a:off x="6436462" y="5202936"/>
            <a:ext cx="585216" cy="58521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5" name="Image 10" descr="Challenges and Learning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910" y="5358384"/>
            <a:ext cx="274320" cy="274320"/>
          </a:xfrm>
          <a:prstGeom prst="rect">
            <a:avLst/>
          </a:prstGeom>
        </p:spPr>
      </p:pic>
      <p:sp>
        <p:nvSpPr>
          <p:cNvPr id="46" name="Agenda Label 11"/>
          <p:cNvSpPr txBox="1"/>
          <p:nvPr/>
        </p:nvSpPr>
        <p:spPr>
          <a:xfrm>
            <a:off x="7195414" y="4992624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11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Challenges and Learnings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Introduction, Problem Statement and Solution</a:t>
            </a:r>
            <a:endParaRPr lang="en-US" sz="3400" dirty="0"/>
          </a:p>
        </p:txBody>
      </p:sp>
      <p:sp>
        <p:nvSpPr>
          <p:cNvPr id="3" name="Introduction Card"/>
          <p:cNvSpPr/>
          <p:nvPr/>
        </p:nvSpPr>
        <p:spPr>
          <a:xfrm>
            <a:off x="548640" y="1234440"/>
            <a:ext cx="11091672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" name="Intro Icon Circle"/>
          <p:cNvSpPr/>
          <p:nvPr/>
        </p:nvSpPr>
        <p:spPr>
          <a:xfrm>
            <a:off x="777240" y="1431036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mage 0" descr="Commun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577340"/>
            <a:ext cx="274320" cy="274320"/>
          </a:xfrm>
          <a:prstGeom prst="rect">
            <a:avLst/>
          </a:prstGeom>
        </p:spPr>
      </p:pic>
      <p:sp>
        <p:nvSpPr>
          <p:cNvPr id="6" name="Introduction Text"/>
          <p:cNvSpPr txBox="1"/>
          <p:nvPr/>
        </p:nvSpPr>
        <p:spPr>
          <a:xfrm>
            <a:off x="1600200" y="1234440"/>
            <a:ext cx="9829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FANVERSE is a web application that brings fans together to discover communities, share posts, comment, react, and receive notifications.</a:t>
            </a:r>
            <a:endParaRPr lang="en-US" sz="1100" dirty="0"/>
          </a:p>
        </p:txBody>
      </p:sp>
      <p:sp>
        <p:nvSpPr>
          <p:cNvPr id="7" name="Problem Card"/>
          <p:cNvSpPr/>
          <p:nvPr/>
        </p:nvSpPr>
        <p:spPr>
          <a:xfrm>
            <a:off x="548640" y="2423160"/>
            <a:ext cx="5074920" cy="365760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Problem Header"/>
          <p:cNvSpPr txBox="1"/>
          <p:nvPr/>
        </p:nvSpPr>
        <p:spPr>
          <a:xfrm>
            <a:off x="822960" y="2606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PROBLEM STATEMENT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Scattered Fan Communities</a:t>
            </a:r>
            <a:endParaRPr lang="en-US" sz="1100" dirty="0"/>
          </a:p>
        </p:txBody>
      </p:sp>
      <p:sp>
        <p:nvSpPr>
          <p:cNvPr id="9" name="Problem Icon Circle"/>
          <p:cNvSpPr/>
          <p:nvPr/>
        </p:nvSpPr>
        <p:spPr>
          <a:xfrm>
            <a:off x="822960" y="3557016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0" name="Image 1" descr="Pro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657600"/>
            <a:ext cx="182880" cy="182880"/>
          </a:xfrm>
          <a:prstGeom prst="rect">
            <a:avLst/>
          </a:prstGeom>
        </p:spPr>
      </p:pic>
      <p:sp>
        <p:nvSpPr>
          <p:cNvPr id="11" name="Problem 1"/>
          <p:cNvSpPr txBox="1"/>
          <p:nvPr/>
        </p:nvSpPr>
        <p:spPr>
          <a:xfrm>
            <a:off x="137160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Fan content is scattered across different platforms.</a:t>
            </a:r>
            <a:endParaRPr lang="en-US" sz="1400" dirty="0"/>
          </a:p>
        </p:txBody>
      </p:sp>
      <p:sp>
        <p:nvSpPr>
          <p:cNvPr id="12" name="Problem Icon Circle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3" name="Image 2" descr="Probl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279392"/>
            <a:ext cx="182880" cy="182880"/>
          </a:xfrm>
          <a:prstGeom prst="rect">
            <a:avLst/>
          </a:prstGeom>
        </p:spPr>
      </p:pic>
      <p:sp>
        <p:nvSpPr>
          <p:cNvPr id="14" name="Problem 2"/>
          <p:cNvSpPr txBox="1"/>
          <p:nvPr/>
        </p:nvSpPr>
        <p:spPr>
          <a:xfrm>
            <a:off x="1371600" y="4096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Finding and managing fan communities can be difficult.</a:t>
            </a:r>
            <a:endParaRPr lang="en-US" sz="1400" dirty="0"/>
          </a:p>
        </p:txBody>
      </p:sp>
      <p:sp>
        <p:nvSpPr>
          <p:cNvPr id="15" name="Problem Icon Circle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6" name="Image 3" descr="Probl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901184"/>
            <a:ext cx="182880" cy="182880"/>
          </a:xfrm>
          <a:prstGeom prst="rect">
            <a:avLst/>
          </a:prstGeom>
        </p:spPr>
      </p:pic>
      <p:sp>
        <p:nvSpPr>
          <p:cNvPr id="17" name="Problem 3"/>
          <p:cNvSpPr txBox="1"/>
          <p:nvPr/>
        </p:nvSpPr>
        <p:spPr>
          <a:xfrm>
            <a:off x="1371600" y="47183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Content moderation and secure user access are important.</a:t>
            </a:r>
            <a:endParaRPr lang="en-US" sz="1400" dirty="0"/>
          </a:p>
        </p:txBody>
      </p:sp>
      <p:sp>
        <p:nvSpPr>
          <p:cNvPr id="18" name="Problem Icon Circle"/>
          <p:cNvSpPr/>
          <p:nvPr/>
        </p:nvSpPr>
        <p:spPr>
          <a:xfrm>
            <a:off x="822960" y="5422392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9" name="Image 4" descr="Probl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22976"/>
            <a:ext cx="182880" cy="182880"/>
          </a:xfrm>
          <a:prstGeom prst="rect">
            <a:avLst/>
          </a:prstGeom>
        </p:spPr>
      </p:pic>
      <p:sp>
        <p:nvSpPr>
          <p:cNvPr id="20" name="Problem 4"/>
          <p:cNvSpPr txBox="1"/>
          <p:nvPr/>
        </p:nvSpPr>
        <p:spPr>
          <a:xfrm>
            <a:off x="1371600" y="5340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platform should remain reliable as usage grows.</a:t>
            </a:r>
            <a:endParaRPr lang="en-US" sz="1400" dirty="0"/>
          </a:p>
        </p:txBody>
      </p:sp>
      <p:sp>
        <p:nvSpPr>
          <p:cNvPr id="21" name="Solution Card"/>
          <p:cNvSpPr/>
          <p:nvPr/>
        </p:nvSpPr>
        <p:spPr>
          <a:xfrm>
            <a:off x="6565392" y="2423160"/>
            <a:ext cx="5074920" cy="3657600"/>
          </a:xfrm>
          <a:prstGeom prst="roundRect">
            <a:avLst>
              <a:gd name="adj" fmla="val 45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olution Header"/>
          <p:cNvSpPr txBox="1"/>
          <p:nvPr/>
        </p:nvSpPr>
        <p:spPr>
          <a:xfrm>
            <a:off x="6839712" y="2606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PROPOSED SOLUTION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One FANVERSE Platform</a:t>
            </a:r>
            <a:endParaRPr lang="en-US" sz="1100" dirty="0"/>
          </a:p>
        </p:txBody>
      </p:sp>
      <p:sp>
        <p:nvSpPr>
          <p:cNvPr id="23" name="Solution Icon Circle"/>
          <p:cNvSpPr/>
          <p:nvPr/>
        </p:nvSpPr>
        <p:spPr>
          <a:xfrm>
            <a:off x="6839712" y="355701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4" name="Image 5" descr="Solu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3657600"/>
            <a:ext cx="182880" cy="182880"/>
          </a:xfrm>
          <a:prstGeom prst="rect">
            <a:avLst/>
          </a:prstGeom>
        </p:spPr>
      </p:pic>
      <p:sp>
        <p:nvSpPr>
          <p:cNvPr id="25" name="Solution 1"/>
          <p:cNvSpPr txBox="1"/>
          <p:nvPr/>
        </p:nvSpPr>
        <p:spPr>
          <a:xfrm>
            <a:off x="7388352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Provide one platform for fan communities and discussions.</a:t>
            </a:r>
            <a:endParaRPr lang="en-US" sz="1400" dirty="0"/>
          </a:p>
        </p:txBody>
      </p:sp>
      <p:sp>
        <p:nvSpPr>
          <p:cNvPr id="26" name="Solution Icon Circle"/>
          <p:cNvSpPr/>
          <p:nvPr/>
        </p:nvSpPr>
        <p:spPr>
          <a:xfrm>
            <a:off x="6839712" y="417880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7" name="Image 6" descr="Soluti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4279392"/>
            <a:ext cx="182880" cy="182880"/>
          </a:xfrm>
          <a:prstGeom prst="rect">
            <a:avLst/>
          </a:prstGeom>
        </p:spPr>
      </p:pic>
      <p:sp>
        <p:nvSpPr>
          <p:cNvPr id="28" name="Solution 2"/>
          <p:cNvSpPr txBox="1"/>
          <p:nvPr/>
        </p:nvSpPr>
        <p:spPr>
          <a:xfrm>
            <a:off x="7388352" y="4096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Let users join channels, share posts, comment, and react.</a:t>
            </a:r>
            <a:endParaRPr lang="en-US" sz="1400" dirty="0"/>
          </a:p>
        </p:txBody>
      </p:sp>
      <p:sp>
        <p:nvSpPr>
          <p:cNvPr id="29" name="Solution Icon Circle"/>
          <p:cNvSpPr/>
          <p:nvPr/>
        </p:nvSpPr>
        <p:spPr>
          <a:xfrm>
            <a:off x="6839712" y="480060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Image 7" descr="Soluti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4901184"/>
            <a:ext cx="182880" cy="182880"/>
          </a:xfrm>
          <a:prstGeom prst="rect">
            <a:avLst/>
          </a:prstGeom>
        </p:spPr>
      </p:pic>
      <p:sp>
        <p:nvSpPr>
          <p:cNvPr id="31" name="Solution 3"/>
          <p:cNvSpPr txBox="1"/>
          <p:nvPr/>
        </p:nvSpPr>
        <p:spPr>
          <a:xfrm>
            <a:off x="7388352" y="47183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Support role-based access and content moderation.</a:t>
            </a:r>
            <a:endParaRPr lang="en-US" sz="1400" dirty="0"/>
          </a:p>
        </p:txBody>
      </p:sp>
      <p:sp>
        <p:nvSpPr>
          <p:cNvPr id="32" name="Solution Icon Circle"/>
          <p:cNvSpPr/>
          <p:nvPr/>
        </p:nvSpPr>
        <p:spPr>
          <a:xfrm>
            <a:off x="6839712" y="542239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3" name="Image 8" descr="Soluti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296" y="5522976"/>
            <a:ext cx="182880" cy="182880"/>
          </a:xfrm>
          <a:prstGeom prst="rect">
            <a:avLst/>
          </a:prstGeom>
        </p:spPr>
      </p:pic>
      <p:sp>
        <p:nvSpPr>
          <p:cNvPr id="34" name="Solution 4"/>
          <p:cNvSpPr txBox="1"/>
          <p:nvPr/>
        </p:nvSpPr>
        <p:spPr>
          <a:xfrm>
            <a:off x="7388352" y="5340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 microservices for modular functionality and Kafka for asynchronous communication.</a:t>
            </a:r>
            <a:endParaRPr lang="en-US" sz="1400" dirty="0"/>
          </a:p>
        </p:txBody>
      </p:sp>
      <p:sp>
        <p:nvSpPr>
          <p:cNvPr id="35" name="Transition Circle"/>
          <p:cNvSpPr/>
          <p:nvPr/>
        </p:nvSpPr>
        <p:spPr>
          <a:xfrm>
            <a:off x="5730545" y="388620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36" name="Image 9" descr="Transition from problem to soluti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8289" y="4123944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FANVERSE Technology Stack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technology stack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Frontend Architecture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frontend architecture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Backend Microservices Architecture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backend architecture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DevOps and CI/CD Architecture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CI/CD architecture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AWS EC2 Deployment Architecture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deployment architecture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General System Flow Diagram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system flow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User Workflow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user workflow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Admin Workflow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admin workflow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Sub-Admin Workflow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sub-admin workflow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Moderator Workflow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moderator workflow diagram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Non-Functional Requirements and Testing Reports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548640" y="118872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screenshots and charts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 reports, graphs, tool screenshots</a:t>
            </a:r>
            <a:endParaRPr lang="en-US" sz="1800" dirty="0"/>
          </a:p>
        </p:txBody>
      </p:sp>
      <p:sp>
        <p:nvSpPr>
          <p:cNvPr id="4" name="Image Placeholder"/>
          <p:cNvSpPr/>
          <p:nvPr/>
        </p:nvSpPr>
        <p:spPr>
          <a:xfrm>
            <a:off x="7818120" y="1188720"/>
            <a:ext cx="38221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metrics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Key figures and results</a:t>
            </a:r>
            <a:endParaRPr lang="en-US" sz="1800" dirty="0"/>
          </a:p>
        </p:txBody>
      </p:sp>
      <p:sp>
        <p:nvSpPr>
          <p:cNvPr id="5" name="Image Placeholder"/>
          <p:cNvSpPr/>
          <p:nvPr/>
        </p:nvSpPr>
        <p:spPr>
          <a:xfrm>
            <a:off x="7818120" y="3749040"/>
            <a:ext cx="38221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report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Additional screenshots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Challenges and Learnings</a:t>
            </a:r>
            <a:endParaRPr lang="en-US" sz="3400" dirty="0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Insert content here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Recommended: 16:9 image. Resize this frame as needed.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NVERSE">
  <a:themeElements>
    <a:clrScheme name="FANVERSE">
      <a:dk1>
        <a:srgbClr val="151B2E"/>
      </a:dk1>
      <a:lt1>
        <a:srgbClr val="FFFFFF"/>
      </a:lt1>
      <a:dk2>
        <a:srgbClr val="5B6272"/>
      </a:dk2>
      <a:lt2>
        <a:srgbClr val="FDF2F2"/>
      </a:lt2>
      <a:accent1>
        <a:srgbClr val="A81D2E"/>
      </a:accent1>
      <a:accent2>
        <a:srgbClr val="151B2E"/>
      </a:accent2>
      <a:accent3>
        <a:srgbClr val="F3CDD2"/>
      </a:accent3>
      <a:accent4>
        <a:srgbClr val="E3939D"/>
      </a:accent4>
      <a:accent5>
        <a:srgbClr val="5B6272"/>
      </a:accent5>
      <a:accent6>
        <a:srgbClr val="FBE3E5"/>
      </a:accent6>
      <a:hlink>
        <a:srgbClr val="A81D2E"/>
      </a:hlink>
      <a:folHlink>
        <a:srgbClr val="5B6272"/>
      </a:folHlink>
    </a:clrScheme>
    <a:fontScheme name="FANVE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FANVERSE – Community Application</dc:title>
  <dc:subject>PptxGenJS Presentation</dc:subject>
  <dc:creator>FANVERSE Team</dc:creator>
  <cp:lastModifiedBy>FANVERSE Team</cp:lastModifiedBy>
  <cp:revision>1</cp:revision>
  <dcterms:created xsi:type="dcterms:W3CDTF">2026-10-16T10:54:23Z</dcterms:created>
  <dcterms:modified xsi:type="dcterms:W3CDTF">2026-10-16T10:54:23Z</dcterms:modified>
</cp:coreProperties>
</file>