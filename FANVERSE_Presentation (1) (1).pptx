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5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97" r:id="rId11"/>
    <p:sldId id="265" r:id="rId12"/>
    <p:sldId id="266" r:id="rId13"/>
    <p:sldId id="267" r:id="rId14"/>
    <p:sldId id="268" r:id="rId15"/>
    <p:sldId id="269" r:id="rId16"/>
    <p:sldId id="271" r:id="rId17"/>
    <p:sldId id="273" r:id="rId18"/>
    <p:sldId id="274" r:id="rId19"/>
    <p:sldId id="278" r:id="rId20"/>
    <p:sldId id="289" r:id="rId21"/>
    <p:sldId id="294" r:id="rId22"/>
    <p:sldId id="290" r:id="rId23"/>
    <p:sldId id="291" r:id="rId24"/>
    <p:sldId id="293" r:id="rId25"/>
    <p:sldId id="270" r:id="rId26"/>
    <p:sldId id="295" r:id="rId27"/>
    <p:sldId id="288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CA4BC73-5DCE-00D9-9B9F-008E6CDC6B07}">
          <p14:sldIdLst>
            <p14:sldId id="256"/>
            <p14:sldId id="285"/>
            <p14:sldId id="258"/>
          </p14:sldIdLst>
        </p14:section>
        <p14:section name="Architecture" id="{87499A09-BCAB-CB4C-07EB-26C14ECC0D6C}">
          <p14:sldIdLst>
            <p14:sldId id="259"/>
            <p14:sldId id="264"/>
            <p14:sldId id="260"/>
            <p14:sldId id="261"/>
            <p14:sldId id="262"/>
            <p14:sldId id="263"/>
            <p14:sldId id="297"/>
          </p14:sldIdLst>
        </p14:section>
        <p14:section name="Flows" id="{DF9E6D05-5476-BA6F-B092-34C8B7EA640A}">
          <p14:sldIdLst>
            <p14:sldId id="265"/>
            <p14:sldId id="266"/>
            <p14:sldId id="267"/>
            <p14:sldId id="268"/>
          </p14:sldIdLst>
        </p14:section>
        <p14:section name="Evaluation" id="{EBCACFAC-6BD5-65BD-63E6-A8683750427C}">
          <p14:sldIdLst>
            <p14:sldId id="269"/>
            <p14:sldId id="271"/>
            <p14:sldId id="273"/>
            <p14:sldId id="274"/>
            <p14:sldId id="278"/>
            <p14:sldId id="289"/>
            <p14:sldId id="294"/>
            <p14:sldId id="290"/>
            <p14:sldId id="291"/>
            <p14:sldId id="293"/>
            <p14:sldId id="270"/>
            <p14:sldId id="295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CC"/>
    <a:srgbClr val="B8C1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59FFF2-206D-9107-112A-0FFC3F08BF30}" v="7" dt="2026-10-22T04:09:28.524"/>
    <p1510:client id="{FB0AB59F-28A4-BA0B-7579-909A8D008EC2}" v="112" dt="2026-10-22T06:13:09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1344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6F5C4-44F6-99D8-8B69-7F346F77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F74D2-2E5A-3716-CEBB-58AB46FDB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8F9B1-043B-4508-9E3B-410D2EE88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7331C-3F3C-3476-5EE0-3DFF84A7EF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60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NVERSE Cover">
    <p:bg>
      <p:bgPr>
        <a:solidFill>
          <a:srgbClr val="FD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40080"/>
            <a:ext cx="60350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66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NVERSE Content">
    <p:bg>
      <p:bgPr>
        <a:solidFill>
          <a:srgbClr val="FD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23774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chemeClr val="tx1"/>
                </a:solidFill>
              </a:rPr>
              <a:t>FAN</a:t>
            </a:r>
            <a:endParaRPr lang="en-US" sz="1200"/>
          </a:p>
        </p:txBody>
      </p:sp>
      <p:sp>
        <p:nvSpPr>
          <p:cNvPr id="4" name="Text 1"/>
          <p:cNvSpPr/>
          <p:nvPr/>
        </p:nvSpPr>
        <p:spPr>
          <a:xfrm>
            <a:off x="786384" y="6355080"/>
            <a:ext cx="6400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chemeClr val="accent1"/>
                </a:solidFill>
              </a:rPr>
              <a:t>VERSE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7FF8B-B27F-D14E-6E4B-5FF2B0CD1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11A5C-8262-635E-1FD0-7E70FBC848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4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400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tx1"/>
                </a:solidFill>
              </a:rPr>
              <a:t>FAN</a:t>
            </a:r>
            <a:r>
              <a:rPr lang="en-US" sz="6600" b="1" dirty="0">
                <a:solidFill>
                  <a:schemeClr val="accent1"/>
                </a:solidFill>
              </a:rPr>
              <a:t>VERSE</a:t>
            </a:r>
            <a:endParaRPr lang="en-US" sz="66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17373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</a:rPr>
              <a:t>Community Application</a:t>
            </a:r>
            <a:endParaRPr lang="en-US" sz="3000" dirty="0"/>
          </a:p>
        </p:txBody>
      </p:sp>
      <p:sp>
        <p:nvSpPr>
          <p:cNvPr id="4" name="Tagline"/>
          <p:cNvSpPr txBox="1"/>
          <p:nvPr/>
        </p:nvSpPr>
        <p:spPr>
          <a:xfrm>
            <a:off x="640080" y="2468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tx1"/>
                </a:solidFill>
              </a:rPr>
              <a:t>Where your </a:t>
            </a:r>
            <a:r>
              <a:rPr lang="en-US" sz="2400" b="1">
                <a:solidFill>
                  <a:schemeClr val="accent1"/>
                </a:solidFill>
              </a:rPr>
              <a:t>fandom</a:t>
            </a:r>
            <a:r>
              <a:rPr lang="en-US" sz="2400" b="1">
                <a:solidFill>
                  <a:schemeClr val="tx1"/>
                </a:solidFill>
              </a:rPr>
              <a:t> comes alive.</a:t>
            </a:r>
            <a:endParaRPr lang="en-US" sz="2400"/>
          </a:p>
        </p:txBody>
      </p:sp>
      <p:sp>
        <p:nvSpPr>
          <p:cNvPr id="5" name="Description"/>
          <p:cNvSpPr txBox="1"/>
          <p:nvPr/>
        </p:nvSpPr>
        <p:spPr>
          <a:xfrm>
            <a:off x="640080" y="31089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A microservices-based platform where fans connect, discover communities, share their passion, and interact with others.</a:t>
            </a:r>
            <a:endParaRPr lang="en-US" sz="1600"/>
          </a:p>
        </p:txBody>
      </p:sp>
      <p:sp>
        <p:nvSpPr>
          <p:cNvPr id="6" name="Visual Card"/>
          <p:cNvSpPr/>
          <p:nvPr/>
        </p:nvSpPr>
        <p:spPr>
          <a:xfrm>
            <a:off x="7132320" y="640080"/>
            <a:ext cx="4434840" cy="3749040"/>
          </a:xfrm>
          <a:prstGeom prst="roundRect">
            <a:avLst>
              <a:gd name="adj" fmla="val 6098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Connection"/>
          <p:cNvSpPr/>
          <p:nvPr/>
        </p:nvSpPr>
        <p:spPr>
          <a:xfrm>
            <a:off x="9349740" y="1097280"/>
            <a:ext cx="0" cy="12344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nnection"/>
          <p:cNvSpPr/>
          <p:nvPr/>
        </p:nvSpPr>
        <p:spPr>
          <a:xfrm flipV="1">
            <a:off x="9349740" y="1714500"/>
            <a:ext cx="1385814" cy="6172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onnection"/>
          <p:cNvSpPr/>
          <p:nvPr/>
        </p:nvSpPr>
        <p:spPr>
          <a:xfrm>
            <a:off x="9349740" y="2331720"/>
            <a:ext cx="1385814" cy="6172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onnection"/>
          <p:cNvSpPr/>
          <p:nvPr/>
        </p:nvSpPr>
        <p:spPr>
          <a:xfrm>
            <a:off x="9349740" y="2331720"/>
            <a:ext cx="0" cy="12344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nnection"/>
          <p:cNvSpPr/>
          <p:nvPr/>
        </p:nvSpPr>
        <p:spPr>
          <a:xfrm flipV="1">
            <a:off x="7963926" y="2331720"/>
            <a:ext cx="1385814" cy="6172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onnection"/>
          <p:cNvSpPr/>
          <p:nvPr/>
        </p:nvSpPr>
        <p:spPr>
          <a:xfrm>
            <a:off x="7963926" y="1714500"/>
            <a:ext cx="1385814" cy="6172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Node"/>
          <p:cNvSpPr/>
          <p:nvPr/>
        </p:nvSpPr>
        <p:spPr>
          <a:xfrm>
            <a:off x="9029700" y="77724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Community featur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0" y="960120"/>
            <a:ext cx="274320" cy="274320"/>
          </a:xfrm>
          <a:prstGeom prst="rect">
            <a:avLst/>
          </a:prstGeom>
        </p:spPr>
      </p:pic>
      <p:sp>
        <p:nvSpPr>
          <p:cNvPr id="15" name="Node"/>
          <p:cNvSpPr/>
          <p:nvPr/>
        </p:nvSpPr>
        <p:spPr>
          <a:xfrm>
            <a:off x="10415514" y="139446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Community featur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394" y="1577340"/>
            <a:ext cx="274320" cy="274320"/>
          </a:xfrm>
          <a:prstGeom prst="rect">
            <a:avLst/>
          </a:prstGeom>
        </p:spPr>
      </p:pic>
      <p:sp>
        <p:nvSpPr>
          <p:cNvPr id="17" name="Node"/>
          <p:cNvSpPr/>
          <p:nvPr/>
        </p:nvSpPr>
        <p:spPr>
          <a:xfrm>
            <a:off x="10415514" y="262890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Community featur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8394" y="2811780"/>
            <a:ext cx="274320" cy="274320"/>
          </a:xfrm>
          <a:prstGeom prst="rect">
            <a:avLst/>
          </a:prstGeom>
        </p:spPr>
      </p:pic>
      <p:sp>
        <p:nvSpPr>
          <p:cNvPr id="19" name="Node"/>
          <p:cNvSpPr/>
          <p:nvPr/>
        </p:nvSpPr>
        <p:spPr>
          <a:xfrm>
            <a:off x="9029700" y="324612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Community featur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2580" y="3429000"/>
            <a:ext cx="274320" cy="274320"/>
          </a:xfrm>
          <a:prstGeom prst="rect">
            <a:avLst/>
          </a:prstGeom>
        </p:spPr>
      </p:pic>
      <p:sp>
        <p:nvSpPr>
          <p:cNvPr id="21" name="Node"/>
          <p:cNvSpPr/>
          <p:nvPr/>
        </p:nvSpPr>
        <p:spPr>
          <a:xfrm>
            <a:off x="7643886" y="262890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Community featur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6766" y="2811780"/>
            <a:ext cx="274320" cy="274320"/>
          </a:xfrm>
          <a:prstGeom prst="rect">
            <a:avLst/>
          </a:prstGeom>
        </p:spPr>
      </p:pic>
      <p:sp>
        <p:nvSpPr>
          <p:cNvPr id="23" name="Node"/>
          <p:cNvSpPr/>
          <p:nvPr/>
        </p:nvSpPr>
        <p:spPr>
          <a:xfrm>
            <a:off x="7643886" y="139446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Community featur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6766" y="1577340"/>
            <a:ext cx="274320" cy="274320"/>
          </a:xfrm>
          <a:prstGeom prst="rect">
            <a:avLst/>
          </a:prstGeom>
        </p:spPr>
      </p:pic>
      <p:sp>
        <p:nvSpPr>
          <p:cNvPr id="25" name="Center Node"/>
          <p:cNvSpPr/>
          <p:nvPr/>
        </p:nvSpPr>
        <p:spPr>
          <a:xfrm>
            <a:off x="8801100" y="1783080"/>
            <a:ext cx="1097280" cy="10972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6" descr="Fan community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5420" y="2112264"/>
            <a:ext cx="548640" cy="438912"/>
          </a:xfrm>
          <a:prstGeom prst="rect">
            <a:avLst/>
          </a:prstGeom>
        </p:spPr>
      </p:pic>
      <p:sp>
        <p:nvSpPr>
          <p:cNvPr id="27" name="Visual Caption"/>
          <p:cNvSpPr txBox="1"/>
          <p:nvPr/>
        </p:nvSpPr>
        <p:spPr>
          <a:xfrm>
            <a:off x="7132320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chemeClr val="tx2"/>
                </a:solidFill>
              </a:rPr>
              <a:t>Connect   •   Discover   •   Share</a:t>
            </a:r>
            <a:endParaRPr lang="en-US" sz="1300"/>
          </a:p>
        </p:txBody>
      </p:sp>
      <p:sp>
        <p:nvSpPr>
          <p:cNvPr id="28" name="Team Label"/>
          <p:cNvSpPr txBox="1"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chemeClr val="accent1"/>
                </a:solidFill>
              </a:rPr>
              <a:t>TEAM MEMBERS</a:t>
            </a:r>
            <a:endParaRPr lang="en-US" sz="1200"/>
          </a:p>
        </p:txBody>
      </p:sp>
      <p:sp>
        <p:nvSpPr>
          <p:cNvPr id="29" name="Team Card 1"/>
          <p:cNvSpPr/>
          <p:nvPr/>
        </p:nvSpPr>
        <p:spPr>
          <a:xfrm>
            <a:off x="640080" y="5120640"/>
            <a:ext cx="2555748" cy="96012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Avatar"/>
          <p:cNvSpPr/>
          <p:nvPr/>
        </p:nvSpPr>
        <p:spPr>
          <a:xfrm>
            <a:off x="841248" y="532638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7" descr="Team memb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5490972"/>
            <a:ext cx="219456" cy="219456"/>
          </a:xfrm>
          <a:prstGeom prst="rect">
            <a:avLst/>
          </a:prstGeom>
        </p:spPr>
      </p:pic>
      <p:sp>
        <p:nvSpPr>
          <p:cNvPr id="32" name="Team Name 1"/>
          <p:cNvSpPr txBox="1"/>
          <p:nvPr/>
        </p:nvSpPr>
        <p:spPr>
          <a:xfrm>
            <a:off x="1527048" y="5212080"/>
            <a:ext cx="1549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Nandan Kamaraddi</a:t>
            </a:r>
            <a:endParaRPr lang="en-US" sz="1500"/>
          </a:p>
        </p:txBody>
      </p:sp>
      <p:sp>
        <p:nvSpPr>
          <p:cNvPr id="33" name="Team Card 2"/>
          <p:cNvSpPr/>
          <p:nvPr/>
        </p:nvSpPr>
        <p:spPr>
          <a:xfrm>
            <a:off x="3424428" y="5120640"/>
            <a:ext cx="2555748" cy="96012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Avatar"/>
          <p:cNvSpPr/>
          <p:nvPr/>
        </p:nvSpPr>
        <p:spPr>
          <a:xfrm>
            <a:off x="3625596" y="532638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8" descr="Team memb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0188" y="5490972"/>
            <a:ext cx="219456" cy="219456"/>
          </a:xfrm>
          <a:prstGeom prst="rect">
            <a:avLst/>
          </a:prstGeom>
        </p:spPr>
      </p:pic>
      <p:sp>
        <p:nvSpPr>
          <p:cNvPr id="36" name="Team Name 2"/>
          <p:cNvSpPr txBox="1"/>
          <p:nvPr/>
        </p:nvSpPr>
        <p:spPr>
          <a:xfrm>
            <a:off x="4311396" y="5212080"/>
            <a:ext cx="1549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Neha Nayak</a:t>
            </a:r>
            <a:endParaRPr lang="en-US" sz="1500"/>
          </a:p>
        </p:txBody>
      </p:sp>
      <p:sp>
        <p:nvSpPr>
          <p:cNvPr id="37" name="Team Card 3"/>
          <p:cNvSpPr/>
          <p:nvPr/>
        </p:nvSpPr>
        <p:spPr>
          <a:xfrm>
            <a:off x="6208776" y="5120640"/>
            <a:ext cx="2555748" cy="96012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Avatar"/>
          <p:cNvSpPr/>
          <p:nvPr/>
        </p:nvSpPr>
        <p:spPr>
          <a:xfrm>
            <a:off x="6409944" y="532638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9" descr="Team memb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4536" y="5490972"/>
            <a:ext cx="219456" cy="219456"/>
          </a:xfrm>
          <a:prstGeom prst="rect">
            <a:avLst/>
          </a:prstGeom>
        </p:spPr>
      </p:pic>
      <p:sp>
        <p:nvSpPr>
          <p:cNvPr id="40" name="Team Name 3"/>
          <p:cNvSpPr txBox="1"/>
          <p:nvPr/>
        </p:nvSpPr>
        <p:spPr>
          <a:xfrm>
            <a:off x="7095744" y="5212080"/>
            <a:ext cx="1549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Vajapeyayajula Sreelasya</a:t>
            </a:r>
            <a:endParaRPr lang="en-US" sz="1500"/>
          </a:p>
        </p:txBody>
      </p:sp>
      <p:sp>
        <p:nvSpPr>
          <p:cNvPr id="41" name="Team Card 4"/>
          <p:cNvSpPr/>
          <p:nvPr/>
        </p:nvSpPr>
        <p:spPr>
          <a:xfrm>
            <a:off x="8993124" y="5120640"/>
            <a:ext cx="2555748" cy="96012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Avatar"/>
          <p:cNvSpPr/>
          <p:nvPr/>
        </p:nvSpPr>
        <p:spPr>
          <a:xfrm>
            <a:off x="9194292" y="532638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10" descr="Team memb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884" y="5490972"/>
            <a:ext cx="219456" cy="219456"/>
          </a:xfrm>
          <a:prstGeom prst="rect">
            <a:avLst/>
          </a:prstGeom>
        </p:spPr>
      </p:pic>
      <p:sp>
        <p:nvSpPr>
          <p:cNvPr id="44" name="Team Name 4"/>
          <p:cNvSpPr txBox="1"/>
          <p:nvPr/>
        </p:nvSpPr>
        <p:spPr>
          <a:xfrm>
            <a:off x="9880092" y="5212080"/>
            <a:ext cx="1549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Vaishnavi Shetti</a:t>
            </a:r>
            <a:endParaRPr lang="en-US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099B4-E090-9C54-85F7-913E4ECA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8B380F-4401-1895-E551-3408E3A324B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911972" y="320040"/>
            <a:ext cx="10700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1"/>
                </a:solidFill>
              </a:rPr>
              <a:t>Presentation Contents</a:t>
            </a:r>
            <a:endParaRPr lang="en-US" sz="340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E4913A7-AB14-591E-CD3F-1271E33B6E64}"/>
              </a:ext>
            </a:extLst>
          </p:cNvPr>
          <p:cNvGrpSpPr/>
          <p:nvPr/>
        </p:nvGrpSpPr>
        <p:grpSpPr>
          <a:xfrm>
            <a:off x="911973" y="1161014"/>
            <a:ext cx="3694345" cy="805769"/>
            <a:chOff x="548640" y="1371600"/>
            <a:chExt cx="3547872" cy="1005840"/>
          </a:xfrm>
        </p:grpSpPr>
        <p:sp>
          <p:nvSpPr>
            <p:cNvPr id="3" name="Agenda Card 1">
              <a:extLst>
                <a:ext uri="{FF2B5EF4-FFF2-40B4-BE49-F238E27FC236}">
                  <a16:creationId xmlns:a16="http://schemas.microsoft.com/office/drawing/2014/main" id="{5B38D23E-FF4D-D89F-0D8E-E5175E180F63}"/>
                </a:ext>
              </a:extLst>
            </p:cNvPr>
            <p:cNvSpPr/>
            <p:nvPr/>
          </p:nvSpPr>
          <p:spPr>
            <a:xfrm>
              <a:off x="548640" y="1371600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genda Icon Circle">
              <a:extLst>
                <a:ext uri="{FF2B5EF4-FFF2-40B4-BE49-F238E27FC236}">
                  <a16:creationId xmlns:a16="http://schemas.microsoft.com/office/drawing/2014/main" id="{B945FFD2-FF3E-AE58-09B5-387AFD56FAB6}"/>
                </a:ext>
              </a:extLst>
            </p:cNvPr>
            <p:cNvSpPr/>
            <p:nvPr/>
          </p:nvSpPr>
          <p:spPr>
            <a:xfrm>
              <a:off x="777240" y="1581912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" name="Image 0" descr="Project Introduction">
              <a:extLst>
                <a:ext uri="{FF2B5EF4-FFF2-40B4-BE49-F238E27FC236}">
                  <a16:creationId xmlns:a16="http://schemas.microsoft.com/office/drawing/2014/main" id="{76EA5317-9E0E-94B3-B60E-E72497C0E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2688" y="1737360"/>
              <a:ext cx="274320" cy="274320"/>
            </a:xfrm>
            <a:prstGeom prst="rect">
              <a:avLst/>
            </a:prstGeom>
          </p:spPr>
        </p:pic>
        <p:sp>
          <p:nvSpPr>
            <p:cNvPr id="6" name="Agenda Label 1">
              <a:extLst>
                <a:ext uri="{FF2B5EF4-FFF2-40B4-BE49-F238E27FC236}">
                  <a16:creationId xmlns:a16="http://schemas.microsoft.com/office/drawing/2014/main" id="{E3812CFC-7F1A-295D-148B-6C9D5B9689D9}"/>
                </a:ext>
              </a:extLst>
            </p:cNvPr>
            <p:cNvSpPr txBox="1"/>
            <p:nvPr/>
          </p:nvSpPr>
          <p:spPr>
            <a:xfrm>
              <a:off x="1536192" y="1371600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01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Project Introduction</a:t>
              </a:r>
              <a:endParaRPr lang="en-US" sz="120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BA96E46-4E1A-8AA8-098B-7E86BD6B521B}"/>
              </a:ext>
            </a:extLst>
          </p:cNvPr>
          <p:cNvGrpSpPr/>
          <p:nvPr/>
        </p:nvGrpSpPr>
        <p:grpSpPr>
          <a:xfrm>
            <a:off x="911972" y="2090172"/>
            <a:ext cx="3689237" cy="820314"/>
            <a:chOff x="4320540" y="1371600"/>
            <a:chExt cx="3547872" cy="1005840"/>
          </a:xfrm>
        </p:grpSpPr>
        <p:sp>
          <p:nvSpPr>
            <p:cNvPr id="7" name="Agenda Card 2">
              <a:extLst>
                <a:ext uri="{FF2B5EF4-FFF2-40B4-BE49-F238E27FC236}">
                  <a16:creationId xmlns:a16="http://schemas.microsoft.com/office/drawing/2014/main" id="{A6F1D9D7-5AD5-DF14-1BD5-146AE35A3F9F}"/>
                </a:ext>
              </a:extLst>
            </p:cNvPr>
            <p:cNvSpPr/>
            <p:nvPr/>
          </p:nvSpPr>
          <p:spPr>
            <a:xfrm>
              <a:off x="4320540" y="1371600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genda Icon Circle">
              <a:extLst>
                <a:ext uri="{FF2B5EF4-FFF2-40B4-BE49-F238E27FC236}">
                  <a16:creationId xmlns:a16="http://schemas.microsoft.com/office/drawing/2014/main" id="{833986A8-0909-1DF3-9344-EF4F96520604}"/>
                </a:ext>
              </a:extLst>
            </p:cNvPr>
            <p:cNvSpPr/>
            <p:nvPr/>
          </p:nvSpPr>
          <p:spPr>
            <a:xfrm>
              <a:off x="4549140" y="1581913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Image 1" descr="Problem Statement and Solution">
              <a:extLst>
                <a:ext uri="{FF2B5EF4-FFF2-40B4-BE49-F238E27FC236}">
                  <a16:creationId xmlns:a16="http://schemas.microsoft.com/office/drawing/2014/main" id="{9B559BF0-4EC3-A5AF-6761-C98867F14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4588" y="1737360"/>
              <a:ext cx="274320" cy="274320"/>
            </a:xfrm>
            <a:prstGeom prst="rect">
              <a:avLst/>
            </a:prstGeom>
          </p:spPr>
        </p:pic>
        <p:sp>
          <p:nvSpPr>
            <p:cNvPr id="10" name="Agenda Label 2">
              <a:extLst>
                <a:ext uri="{FF2B5EF4-FFF2-40B4-BE49-F238E27FC236}">
                  <a16:creationId xmlns:a16="http://schemas.microsoft.com/office/drawing/2014/main" id="{22522FFE-00F3-DF90-2111-E97DFC6869E9}"/>
                </a:ext>
              </a:extLst>
            </p:cNvPr>
            <p:cNvSpPr txBox="1"/>
            <p:nvPr/>
          </p:nvSpPr>
          <p:spPr>
            <a:xfrm>
              <a:off x="5308092" y="1371600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02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Problem Statement and Solution</a:t>
              </a:r>
              <a:endParaRPr lang="en-US" sz="120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D689C79-8478-114E-1F60-336E1AB85129}"/>
              </a:ext>
            </a:extLst>
          </p:cNvPr>
          <p:cNvGrpSpPr/>
          <p:nvPr/>
        </p:nvGrpSpPr>
        <p:grpSpPr>
          <a:xfrm>
            <a:off x="911973" y="3033875"/>
            <a:ext cx="3708926" cy="823710"/>
            <a:chOff x="8092440" y="1371600"/>
            <a:chExt cx="3547872" cy="1005840"/>
          </a:xfrm>
        </p:grpSpPr>
        <p:sp>
          <p:nvSpPr>
            <p:cNvPr id="11" name="Agenda Card 3">
              <a:extLst>
                <a:ext uri="{FF2B5EF4-FFF2-40B4-BE49-F238E27FC236}">
                  <a16:creationId xmlns:a16="http://schemas.microsoft.com/office/drawing/2014/main" id="{F7D5925C-4855-5D0D-B267-7D5B87136CF7}"/>
                </a:ext>
              </a:extLst>
            </p:cNvPr>
            <p:cNvSpPr/>
            <p:nvPr/>
          </p:nvSpPr>
          <p:spPr>
            <a:xfrm>
              <a:off x="8092440" y="1371600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Agenda Icon Circle">
              <a:extLst>
                <a:ext uri="{FF2B5EF4-FFF2-40B4-BE49-F238E27FC236}">
                  <a16:creationId xmlns:a16="http://schemas.microsoft.com/office/drawing/2014/main" id="{C8CC9E9A-D5C9-0280-FD1A-960CB88B25FD}"/>
                </a:ext>
              </a:extLst>
            </p:cNvPr>
            <p:cNvSpPr/>
            <p:nvPr/>
          </p:nvSpPr>
          <p:spPr>
            <a:xfrm>
              <a:off x="8321040" y="1581912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Image 2" descr="Technology Stack">
              <a:extLst>
                <a:ext uri="{FF2B5EF4-FFF2-40B4-BE49-F238E27FC236}">
                  <a16:creationId xmlns:a16="http://schemas.microsoft.com/office/drawing/2014/main" id="{FA44A733-2A3F-57D7-A5D8-1BE0ECF73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76488" y="1737360"/>
              <a:ext cx="274320" cy="274320"/>
            </a:xfrm>
            <a:prstGeom prst="rect">
              <a:avLst/>
            </a:prstGeom>
          </p:spPr>
        </p:pic>
        <p:sp>
          <p:nvSpPr>
            <p:cNvPr id="14" name="Agenda Label 3">
              <a:extLst>
                <a:ext uri="{FF2B5EF4-FFF2-40B4-BE49-F238E27FC236}">
                  <a16:creationId xmlns:a16="http://schemas.microsoft.com/office/drawing/2014/main" id="{FEE81218-E9B0-81DC-E0A3-4056E6C66938}"/>
                </a:ext>
              </a:extLst>
            </p:cNvPr>
            <p:cNvSpPr txBox="1"/>
            <p:nvPr/>
          </p:nvSpPr>
          <p:spPr>
            <a:xfrm>
              <a:off x="9079992" y="1371600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03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Technology Stack</a:t>
              </a:r>
              <a:endParaRPr lang="en-US" sz="120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E846832-DBF2-8C22-2CF7-285F5D66590D}"/>
              </a:ext>
            </a:extLst>
          </p:cNvPr>
          <p:cNvGrpSpPr/>
          <p:nvPr/>
        </p:nvGrpSpPr>
        <p:grpSpPr>
          <a:xfrm>
            <a:off x="911973" y="3994689"/>
            <a:ext cx="3708926" cy="823710"/>
            <a:chOff x="548640" y="2578608"/>
            <a:chExt cx="3547872" cy="1005840"/>
          </a:xfrm>
        </p:grpSpPr>
        <p:sp>
          <p:nvSpPr>
            <p:cNvPr id="15" name="Agenda Card 4">
              <a:extLst>
                <a:ext uri="{FF2B5EF4-FFF2-40B4-BE49-F238E27FC236}">
                  <a16:creationId xmlns:a16="http://schemas.microsoft.com/office/drawing/2014/main" id="{1F8BC55D-0290-AA4E-68A2-CAE7893B2EC6}"/>
                </a:ext>
              </a:extLst>
            </p:cNvPr>
            <p:cNvSpPr/>
            <p:nvPr/>
          </p:nvSpPr>
          <p:spPr>
            <a:xfrm>
              <a:off x="548640" y="2578608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Agenda Icon Circle">
              <a:extLst>
                <a:ext uri="{FF2B5EF4-FFF2-40B4-BE49-F238E27FC236}">
                  <a16:creationId xmlns:a16="http://schemas.microsoft.com/office/drawing/2014/main" id="{F03F3854-DE40-640E-E468-50D78F3869B9}"/>
                </a:ext>
              </a:extLst>
            </p:cNvPr>
            <p:cNvSpPr/>
            <p:nvPr/>
          </p:nvSpPr>
          <p:spPr>
            <a:xfrm>
              <a:off x="777240" y="2788920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7" name="Image 3" descr="Frontend Architecture">
              <a:extLst>
                <a:ext uri="{FF2B5EF4-FFF2-40B4-BE49-F238E27FC236}">
                  <a16:creationId xmlns:a16="http://schemas.microsoft.com/office/drawing/2014/main" id="{55D16BE1-33D3-1167-E784-180813241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2688" y="2944368"/>
              <a:ext cx="274320" cy="274320"/>
            </a:xfrm>
            <a:prstGeom prst="rect">
              <a:avLst/>
            </a:prstGeom>
          </p:spPr>
        </p:pic>
        <p:sp>
          <p:nvSpPr>
            <p:cNvPr id="18" name="Agenda Label 4">
              <a:extLst>
                <a:ext uri="{FF2B5EF4-FFF2-40B4-BE49-F238E27FC236}">
                  <a16:creationId xmlns:a16="http://schemas.microsoft.com/office/drawing/2014/main" id="{1B78652B-7209-44CE-AD7C-8C3F54B8B309}"/>
                </a:ext>
              </a:extLst>
            </p:cNvPr>
            <p:cNvSpPr txBox="1"/>
            <p:nvPr/>
          </p:nvSpPr>
          <p:spPr>
            <a:xfrm>
              <a:off x="1536192" y="2578608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04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Frontend Architecture</a:t>
              </a:r>
              <a:endParaRPr lang="en-US" sz="120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232D125-5438-0A09-6A4E-1728BE5F410C}"/>
              </a:ext>
            </a:extLst>
          </p:cNvPr>
          <p:cNvGrpSpPr/>
          <p:nvPr/>
        </p:nvGrpSpPr>
        <p:grpSpPr>
          <a:xfrm>
            <a:off x="911973" y="4980092"/>
            <a:ext cx="3708926" cy="823710"/>
            <a:chOff x="4320540" y="2578608"/>
            <a:chExt cx="3547872" cy="1005840"/>
          </a:xfrm>
        </p:grpSpPr>
        <p:sp>
          <p:nvSpPr>
            <p:cNvPr id="19" name="Agenda Card 5">
              <a:extLst>
                <a:ext uri="{FF2B5EF4-FFF2-40B4-BE49-F238E27FC236}">
                  <a16:creationId xmlns:a16="http://schemas.microsoft.com/office/drawing/2014/main" id="{9B99E0DB-5FF3-7B8D-ECF1-C083DD2DBE3E}"/>
                </a:ext>
              </a:extLst>
            </p:cNvPr>
            <p:cNvSpPr/>
            <p:nvPr/>
          </p:nvSpPr>
          <p:spPr>
            <a:xfrm>
              <a:off x="4320540" y="2578608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Agenda Icon Circle">
              <a:extLst>
                <a:ext uri="{FF2B5EF4-FFF2-40B4-BE49-F238E27FC236}">
                  <a16:creationId xmlns:a16="http://schemas.microsoft.com/office/drawing/2014/main" id="{F6E44F7E-3F50-CF9C-BE75-C5EE900B9C55}"/>
                </a:ext>
              </a:extLst>
            </p:cNvPr>
            <p:cNvSpPr/>
            <p:nvPr/>
          </p:nvSpPr>
          <p:spPr>
            <a:xfrm>
              <a:off x="4549140" y="2788920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1" name="Image 4" descr="Backend Microservices Architecture">
              <a:extLst>
                <a:ext uri="{FF2B5EF4-FFF2-40B4-BE49-F238E27FC236}">
                  <a16:creationId xmlns:a16="http://schemas.microsoft.com/office/drawing/2014/main" id="{7F7296A4-9538-E88B-BD31-C182EB3F0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04588" y="2944368"/>
              <a:ext cx="274320" cy="274320"/>
            </a:xfrm>
            <a:prstGeom prst="rect">
              <a:avLst/>
            </a:prstGeom>
          </p:spPr>
        </p:pic>
        <p:sp>
          <p:nvSpPr>
            <p:cNvPr id="22" name="Agenda Label 5">
              <a:extLst>
                <a:ext uri="{FF2B5EF4-FFF2-40B4-BE49-F238E27FC236}">
                  <a16:creationId xmlns:a16="http://schemas.microsoft.com/office/drawing/2014/main" id="{A6470E09-B23C-0280-0CF5-2C2EBA6883B7}"/>
                </a:ext>
              </a:extLst>
            </p:cNvPr>
            <p:cNvSpPr txBox="1"/>
            <p:nvPr/>
          </p:nvSpPr>
          <p:spPr>
            <a:xfrm>
              <a:off x="5308092" y="2578608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05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Backend Microservices Architecture</a:t>
              </a:r>
              <a:endParaRPr lang="en-US" sz="120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B4FD444-8007-3E5E-B9C8-5A0B33C86A33}"/>
              </a:ext>
            </a:extLst>
          </p:cNvPr>
          <p:cNvGrpSpPr/>
          <p:nvPr/>
        </p:nvGrpSpPr>
        <p:grpSpPr>
          <a:xfrm>
            <a:off x="6138933" y="1146038"/>
            <a:ext cx="3699175" cy="782441"/>
            <a:chOff x="8092440" y="2578608"/>
            <a:chExt cx="3547872" cy="1005840"/>
          </a:xfrm>
        </p:grpSpPr>
        <p:sp>
          <p:nvSpPr>
            <p:cNvPr id="23" name="Agenda Card 6">
              <a:extLst>
                <a:ext uri="{FF2B5EF4-FFF2-40B4-BE49-F238E27FC236}">
                  <a16:creationId xmlns:a16="http://schemas.microsoft.com/office/drawing/2014/main" id="{99ACBAAA-24C3-920D-C2CF-0BFD9890512F}"/>
                </a:ext>
              </a:extLst>
            </p:cNvPr>
            <p:cNvSpPr/>
            <p:nvPr/>
          </p:nvSpPr>
          <p:spPr>
            <a:xfrm>
              <a:off x="8092440" y="2578608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Agenda Icon Circle">
              <a:extLst>
                <a:ext uri="{FF2B5EF4-FFF2-40B4-BE49-F238E27FC236}">
                  <a16:creationId xmlns:a16="http://schemas.microsoft.com/office/drawing/2014/main" id="{C839B29E-8D54-66B6-E4F6-9055D13AB879}"/>
                </a:ext>
              </a:extLst>
            </p:cNvPr>
            <p:cNvSpPr/>
            <p:nvPr/>
          </p:nvSpPr>
          <p:spPr>
            <a:xfrm>
              <a:off x="8321040" y="2788920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5" name="Image 5" descr="DevOps and AWS Deployment">
              <a:extLst>
                <a:ext uri="{FF2B5EF4-FFF2-40B4-BE49-F238E27FC236}">
                  <a16:creationId xmlns:a16="http://schemas.microsoft.com/office/drawing/2014/main" id="{B25B20BE-CDCF-9B0B-48B3-5B2DE4F93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76488" y="2944368"/>
              <a:ext cx="274320" cy="274320"/>
            </a:xfrm>
            <a:prstGeom prst="rect">
              <a:avLst/>
            </a:prstGeom>
          </p:spPr>
        </p:pic>
        <p:sp>
          <p:nvSpPr>
            <p:cNvPr id="26" name="Agenda Label 6">
              <a:extLst>
                <a:ext uri="{FF2B5EF4-FFF2-40B4-BE49-F238E27FC236}">
                  <a16:creationId xmlns:a16="http://schemas.microsoft.com/office/drawing/2014/main" id="{FBFED9CB-4CF1-4EA9-3D22-23D0276B9593}"/>
                </a:ext>
              </a:extLst>
            </p:cNvPr>
            <p:cNvSpPr txBox="1"/>
            <p:nvPr/>
          </p:nvSpPr>
          <p:spPr>
            <a:xfrm>
              <a:off x="9079992" y="2578608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06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DevOps and AWS Deployment</a:t>
              </a:r>
              <a:endParaRPr lang="en-US" sz="120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E81C832-D85B-A5ED-0125-982CB3444F17}"/>
              </a:ext>
            </a:extLst>
          </p:cNvPr>
          <p:cNvGrpSpPr/>
          <p:nvPr/>
        </p:nvGrpSpPr>
        <p:grpSpPr>
          <a:xfrm>
            <a:off x="6146471" y="2090172"/>
            <a:ext cx="3699174" cy="811510"/>
            <a:chOff x="548640" y="3785616"/>
            <a:chExt cx="3547872" cy="1005840"/>
          </a:xfrm>
        </p:grpSpPr>
        <p:sp>
          <p:nvSpPr>
            <p:cNvPr id="27" name="Agenda Card 7">
              <a:extLst>
                <a:ext uri="{FF2B5EF4-FFF2-40B4-BE49-F238E27FC236}">
                  <a16:creationId xmlns:a16="http://schemas.microsoft.com/office/drawing/2014/main" id="{C71BE408-C209-9224-EA2F-B8B7EE0AF11F}"/>
                </a:ext>
              </a:extLst>
            </p:cNvPr>
            <p:cNvSpPr/>
            <p:nvPr/>
          </p:nvSpPr>
          <p:spPr>
            <a:xfrm>
              <a:off x="548640" y="3785616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Agenda Icon Circle">
              <a:extLst>
                <a:ext uri="{FF2B5EF4-FFF2-40B4-BE49-F238E27FC236}">
                  <a16:creationId xmlns:a16="http://schemas.microsoft.com/office/drawing/2014/main" id="{D80C69BA-E837-088B-CF1C-6689B90EC390}"/>
                </a:ext>
              </a:extLst>
            </p:cNvPr>
            <p:cNvSpPr/>
            <p:nvPr/>
          </p:nvSpPr>
          <p:spPr>
            <a:xfrm>
              <a:off x="777240" y="3995928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" name="Image 6" descr="General System Flow">
              <a:extLst>
                <a:ext uri="{FF2B5EF4-FFF2-40B4-BE49-F238E27FC236}">
                  <a16:creationId xmlns:a16="http://schemas.microsoft.com/office/drawing/2014/main" id="{358AAF1E-B82E-4861-1CF7-EEB224A62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2688" y="4151376"/>
              <a:ext cx="274320" cy="274320"/>
            </a:xfrm>
            <a:prstGeom prst="rect">
              <a:avLst/>
            </a:prstGeom>
          </p:spPr>
        </p:pic>
        <p:sp>
          <p:nvSpPr>
            <p:cNvPr id="30" name="Agenda Label 7">
              <a:extLst>
                <a:ext uri="{FF2B5EF4-FFF2-40B4-BE49-F238E27FC236}">
                  <a16:creationId xmlns:a16="http://schemas.microsoft.com/office/drawing/2014/main" id="{931FDC9B-86B6-1ADB-00A8-9C36D02F3C2D}"/>
                </a:ext>
              </a:extLst>
            </p:cNvPr>
            <p:cNvSpPr txBox="1"/>
            <p:nvPr/>
          </p:nvSpPr>
          <p:spPr>
            <a:xfrm>
              <a:off x="1536192" y="3785616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07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General System Flow</a:t>
              </a:r>
              <a:endParaRPr lang="en-US" sz="120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0AA351F-465B-D41C-9F18-BDA7CF66C6A1}"/>
              </a:ext>
            </a:extLst>
          </p:cNvPr>
          <p:cNvGrpSpPr/>
          <p:nvPr/>
        </p:nvGrpSpPr>
        <p:grpSpPr>
          <a:xfrm>
            <a:off x="6131067" y="3029637"/>
            <a:ext cx="3716792" cy="827948"/>
            <a:chOff x="4320540" y="3785616"/>
            <a:chExt cx="3547872" cy="1005842"/>
          </a:xfrm>
        </p:grpSpPr>
        <p:sp>
          <p:nvSpPr>
            <p:cNvPr id="31" name="Agenda Card 8">
              <a:extLst>
                <a:ext uri="{FF2B5EF4-FFF2-40B4-BE49-F238E27FC236}">
                  <a16:creationId xmlns:a16="http://schemas.microsoft.com/office/drawing/2014/main" id="{C5852CAB-0326-070B-5377-1A9FC3BEF05D}"/>
                </a:ext>
              </a:extLst>
            </p:cNvPr>
            <p:cNvSpPr/>
            <p:nvPr/>
          </p:nvSpPr>
          <p:spPr>
            <a:xfrm>
              <a:off x="4320540" y="3785616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Agenda Icon Circle">
              <a:extLst>
                <a:ext uri="{FF2B5EF4-FFF2-40B4-BE49-F238E27FC236}">
                  <a16:creationId xmlns:a16="http://schemas.microsoft.com/office/drawing/2014/main" id="{B10A9915-1F3A-BC5A-436E-AB05A65D1ECC}"/>
                </a:ext>
              </a:extLst>
            </p:cNvPr>
            <p:cNvSpPr/>
            <p:nvPr/>
          </p:nvSpPr>
          <p:spPr>
            <a:xfrm>
              <a:off x="4549140" y="3995928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3" name="Image 7" descr="User Application Flow">
              <a:extLst>
                <a:ext uri="{FF2B5EF4-FFF2-40B4-BE49-F238E27FC236}">
                  <a16:creationId xmlns:a16="http://schemas.microsoft.com/office/drawing/2014/main" id="{0E2D0BD7-7603-CA5E-B296-888EDDC1A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04588" y="4151376"/>
              <a:ext cx="274320" cy="274320"/>
            </a:xfrm>
            <a:prstGeom prst="rect">
              <a:avLst/>
            </a:prstGeom>
          </p:spPr>
        </p:pic>
        <p:sp>
          <p:nvSpPr>
            <p:cNvPr id="34" name="Agenda Label 8">
              <a:extLst>
                <a:ext uri="{FF2B5EF4-FFF2-40B4-BE49-F238E27FC236}">
                  <a16:creationId xmlns:a16="http://schemas.microsoft.com/office/drawing/2014/main" id="{76A82258-86DF-0A7E-299F-E003B460BB18}"/>
                </a:ext>
              </a:extLst>
            </p:cNvPr>
            <p:cNvSpPr txBox="1"/>
            <p:nvPr/>
          </p:nvSpPr>
          <p:spPr>
            <a:xfrm>
              <a:off x="5308092" y="3785618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08</a:t>
              </a:r>
            </a:p>
            <a:p>
              <a:r>
                <a:rPr lang="en-US" sz="1500" b="1"/>
                <a:t>Role-Based Workflows</a:t>
              </a:r>
              <a:endParaRPr lang="en-US" sz="1500"/>
            </a:p>
            <a:p>
              <a:pPr marL="0" indent="0">
                <a:buNone/>
              </a:pPr>
              <a:endParaRPr lang="en-US" sz="120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1A05162-F756-9373-327E-4DA52C3D240D}"/>
              </a:ext>
            </a:extLst>
          </p:cNvPr>
          <p:cNvGrpSpPr/>
          <p:nvPr/>
        </p:nvGrpSpPr>
        <p:grpSpPr>
          <a:xfrm>
            <a:off x="6138933" y="4980092"/>
            <a:ext cx="3706712" cy="823710"/>
            <a:chOff x="4310065" y="4992624"/>
            <a:chExt cx="3547872" cy="1005840"/>
          </a:xfrm>
        </p:grpSpPr>
        <p:sp>
          <p:nvSpPr>
            <p:cNvPr id="43" name="Agenda Card 11">
              <a:extLst>
                <a:ext uri="{FF2B5EF4-FFF2-40B4-BE49-F238E27FC236}">
                  <a16:creationId xmlns:a16="http://schemas.microsoft.com/office/drawing/2014/main" id="{132D6ED3-AD78-C7AD-C791-25719635AD4A}"/>
                </a:ext>
              </a:extLst>
            </p:cNvPr>
            <p:cNvSpPr/>
            <p:nvPr/>
          </p:nvSpPr>
          <p:spPr>
            <a:xfrm>
              <a:off x="4310065" y="4992624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Agenda Icon Circle">
              <a:extLst>
                <a:ext uri="{FF2B5EF4-FFF2-40B4-BE49-F238E27FC236}">
                  <a16:creationId xmlns:a16="http://schemas.microsoft.com/office/drawing/2014/main" id="{A3133A3E-2931-DC65-3B2D-278D0B503734}"/>
                </a:ext>
              </a:extLst>
            </p:cNvPr>
            <p:cNvSpPr/>
            <p:nvPr/>
          </p:nvSpPr>
          <p:spPr>
            <a:xfrm>
              <a:off x="4538665" y="5202936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5" name="Image 10" descr="Challenges and Learnings">
              <a:extLst>
                <a:ext uri="{FF2B5EF4-FFF2-40B4-BE49-F238E27FC236}">
                  <a16:creationId xmlns:a16="http://schemas.microsoft.com/office/drawing/2014/main" id="{F0470DFF-9A5A-7980-05B3-ABDC8963E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94113" y="5358384"/>
              <a:ext cx="274320" cy="274320"/>
            </a:xfrm>
            <a:prstGeom prst="rect">
              <a:avLst/>
            </a:prstGeom>
          </p:spPr>
        </p:pic>
        <p:sp>
          <p:nvSpPr>
            <p:cNvPr id="46" name="Agenda Label 11">
              <a:extLst>
                <a:ext uri="{FF2B5EF4-FFF2-40B4-BE49-F238E27FC236}">
                  <a16:creationId xmlns:a16="http://schemas.microsoft.com/office/drawing/2014/main" id="{A6ADE37F-4416-94DA-6771-8F5E79956671}"/>
                </a:ext>
              </a:extLst>
            </p:cNvPr>
            <p:cNvSpPr txBox="1"/>
            <p:nvPr/>
          </p:nvSpPr>
          <p:spPr>
            <a:xfrm>
              <a:off x="5297617" y="4992624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10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Challenges and Learnings</a:t>
              </a:r>
              <a:endParaRPr lang="en-US" sz="1200"/>
            </a:p>
          </p:txBody>
        </p:sp>
      </p:grpSp>
      <p:sp>
        <p:nvSpPr>
          <p:cNvPr id="47" name="Slide Number Placeholder 0">
            <a:extLst>
              <a:ext uri="{FF2B5EF4-FFF2-40B4-BE49-F238E27FC236}">
                <a16:creationId xmlns:a16="http://schemas.microsoft.com/office/drawing/2014/main" id="{AC53B300-68D5-3BBD-7074-D6B423A62B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55D6DD1-8841-C6E5-5EA4-4EDC372F51D5}"/>
              </a:ext>
            </a:extLst>
          </p:cNvPr>
          <p:cNvGrpSpPr/>
          <p:nvPr/>
        </p:nvGrpSpPr>
        <p:grpSpPr>
          <a:xfrm>
            <a:off x="6138933" y="3994689"/>
            <a:ext cx="3708926" cy="823710"/>
            <a:chOff x="8092440" y="3806319"/>
            <a:chExt cx="3547872" cy="1096073"/>
          </a:xfrm>
        </p:grpSpPr>
        <p:sp>
          <p:nvSpPr>
            <p:cNvPr id="51" name="Agenda Card 10">
              <a:extLst>
                <a:ext uri="{FF2B5EF4-FFF2-40B4-BE49-F238E27FC236}">
                  <a16:creationId xmlns:a16="http://schemas.microsoft.com/office/drawing/2014/main" id="{CD7F6F97-3D51-939C-01FA-01844E93A885}"/>
                </a:ext>
              </a:extLst>
            </p:cNvPr>
            <p:cNvSpPr/>
            <p:nvPr/>
          </p:nvSpPr>
          <p:spPr>
            <a:xfrm>
              <a:off x="8092440" y="3806319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Agenda Icon Circle">
              <a:extLst>
                <a:ext uri="{FF2B5EF4-FFF2-40B4-BE49-F238E27FC236}">
                  <a16:creationId xmlns:a16="http://schemas.microsoft.com/office/drawing/2014/main" id="{96CFBFAD-77D7-39BB-B684-DE8B02222F54}"/>
                </a:ext>
              </a:extLst>
            </p:cNvPr>
            <p:cNvSpPr/>
            <p:nvPr/>
          </p:nvSpPr>
          <p:spPr>
            <a:xfrm>
              <a:off x="8321040" y="3995928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Agenda Label 9">
              <a:extLst>
                <a:ext uri="{FF2B5EF4-FFF2-40B4-BE49-F238E27FC236}">
                  <a16:creationId xmlns:a16="http://schemas.microsoft.com/office/drawing/2014/main" id="{4C66F683-9F3F-42D1-07F8-D0265475C825}"/>
                </a:ext>
              </a:extLst>
            </p:cNvPr>
            <p:cNvSpPr txBox="1"/>
            <p:nvPr/>
          </p:nvSpPr>
          <p:spPr>
            <a:xfrm>
              <a:off x="9086850" y="3896552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09</a:t>
              </a:r>
            </a:p>
            <a:p>
              <a:r>
                <a:rPr lang="en-US" sz="1500" b="1"/>
                <a:t>Non-Functional Requirements (NFRs)</a:t>
              </a:r>
              <a:endParaRPr lang="en-US" sz="1500"/>
            </a:p>
            <a:p>
              <a:pPr marL="0" indent="0">
                <a:buNone/>
              </a:pPr>
              <a:endParaRPr lang="en-US" sz="1200"/>
            </a:p>
          </p:txBody>
        </p:sp>
        <p:pic>
          <p:nvPicPr>
            <p:cNvPr id="55" name="Image 9" descr="Non-Functional Requirements (NFRs)">
              <a:extLst>
                <a:ext uri="{FF2B5EF4-FFF2-40B4-BE49-F238E27FC236}">
                  <a16:creationId xmlns:a16="http://schemas.microsoft.com/office/drawing/2014/main" id="{8FBB1878-69B4-FA72-24B6-45E62D7D8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501634" y="4151376"/>
              <a:ext cx="274320" cy="2743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696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1"/>
                </a:solidFill>
              </a:rPr>
              <a:t>Introduction, Problem Statement and Solution</a:t>
            </a:r>
            <a:endParaRPr lang="en-US" sz="3400"/>
          </a:p>
        </p:txBody>
      </p:sp>
      <p:sp>
        <p:nvSpPr>
          <p:cNvPr id="3" name="Introduction Card"/>
          <p:cNvSpPr/>
          <p:nvPr/>
        </p:nvSpPr>
        <p:spPr>
          <a:xfrm>
            <a:off x="548640" y="1234440"/>
            <a:ext cx="11091672" cy="96012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Intro Icon Circle"/>
          <p:cNvSpPr/>
          <p:nvPr/>
        </p:nvSpPr>
        <p:spPr>
          <a:xfrm>
            <a:off x="777240" y="1431036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Commun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577340"/>
            <a:ext cx="274320" cy="274320"/>
          </a:xfrm>
          <a:prstGeom prst="rect">
            <a:avLst/>
          </a:prstGeom>
        </p:spPr>
      </p:pic>
      <p:sp>
        <p:nvSpPr>
          <p:cNvPr id="6" name="Introduction Text"/>
          <p:cNvSpPr txBox="1"/>
          <p:nvPr/>
        </p:nvSpPr>
        <p:spPr>
          <a:xfrm>
            <a:off x="1600200" y="1234440"/>
            <a:ext cx="9829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chemeClr val="accent1"/>
                </a:solidFill>
              </a:rPr>
              <a:t>INTRODUCTION</a:t>
            </a:r>
            <a:endParaRPr lang="en-US" sz="1100"/>
          </a:p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FANVERSE is a web application that brings fans together to discover communities, share posts, comment, react, and receive notifications.</a:t>
            </a:r>
            <a:endParaRPr lang="en-US" sz="1100"/>
          </a:p>
        </p:txBody>
      </p:sp>
      <p:sp>
        <p:nvSpPr>
          <p:cNvPr id="7" name="Problem Card"/>
          <p:cNvSpPr/>
          <p:nvPr/>
        </p:nvSpPr>
        <p:spPr>
          <a:xfrm>
            <a:off x="548640" y="2423160"/>
            <a:ext cx="5074920" cy="365760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Problem Header"/>
          <p:cNvSpPr txBox="1"/>
          <p:nvPr/>
        </p:nvSpPr>
        <p:spPr>
          <a:xfrm>
            <a:off x="822960" y="26060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chemeClr val="accent1"/>
                </a:solidFill>
              </a:rPr>
              <a:t>PROBLEM STATEMENT</a:t>
            </a:r>
            <a:endParaRPr lang="en-US" sz="1100"/>
          </a:p>
          <a:p>
            <a:pPr marL="0" indent="0">
              <a:buNone/>
            </a:pPr>
            <a:r>
              <a:rPr lang="en-US" sz="2200" b="1">
                <a:solidFill>
                  <a:schemeClr val="tx1"/>
                </a:solidFill>
              </a:rPr>
              <a:t>Scattered Fan Communities</a:t>
            </a:r>
            <a:endParaRPr lang="en-US" sz="1100"/>
          </a:p>
        </p:txBody>
      </p:sp>
      <p:sp>
        <p:nvSpPr>
          <p:cNvPr id="9" name="Problem Icon Circle"/>
          <p:cNvSpPr/>
          <p:nvPr/>
        </p:nvSpPr>
        <p:spPr>
          <a:xfrm>
            <a:off x="822960" y="3557016"/>
            <a:ext cx="384048" cy="38404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obl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657600"/>
            <a:ext cx="182880" cy="182880"/>
          </a:xfrm>
          <a:prstGeom prst="rect">
            <a:avLst/>
          </a:prstGeom>
        </p:spPr>
      </p:pic>
      <p:sp>
        <p:nvSpPr>
          <p:cNvPr id="11" name="Problem 1"/>
          <p:cNvSpPr txBox="1"/>
          <p:nvPr/>
        </p:nvSpPr>
        <p:spPr>
          <a:xfrm>
            <a:off x="1371600" y="3474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Fan content is scattered across different platforms.</a:t>
            </a:r>
            <a:endParaRPr lang="en-US" sz="1400"/>
          </a:p>
        </p:txBody>
      </p:sp>
      <p:sp>
        <p:nvSpPr>
          <p:cNvPr id="12" name="Problem Icon Circle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oble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279392"/>
            <a:ext cx="182880" cy="182880"/>
          </a:xfrm>
          <a:prstGeom prst="rect">
            <a:avLst/>
          </a:prstGeom>
        </p:spPr>
      </p:pic>
      <p:sp>
        <p:nvSpPr>
          <p:cNvPr id="14" name="Problem 2"/>
          <p:cNvSpPr txBox="1"/>
          <p:nvPr/>
        </p:nvSpPr>
        <p:spPr>
          <a:xfrm>
            <a:off x="1371600" y="40965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Finding and managing fan communities can be difficult.</a:t>
            </a:r>
            <a:endParaRPr lang="en-US" sz="1400"/>
          </a:p>
        </p:txBody>
      </p:sp>
      <p:sp>
        <p:nvSpPr>
          <p:cNvPr id="15" name="Problem Icon Circle"/>
          <p:cNvSpPr/>
          <p:nvPr/>
        </p:nvSpPr>
        <p:spPr>
          <a:xfrm>
            <a:off x="822960" y="4800600"/>
            <a:ext cx="384048" cy="38404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oble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4901184"/>
            <a:ext cx="182880" cy="182880"/>
          </a:xfrm>
          <a:prstGeom prst="rect">
            <a:avLst/>
          </a:prstGeom>
        </p:spPr>
      </p:pic>
      <p:sp>
        <p:nvSpPr>
          <p:cNvPr id="17" name="Problem 3"/>
          <p:cNvSpPr txBox="1"/>
          <p:nvPr/>
        </p:nvSpPr>
        <p:spPr>
          <a:xfrm>
            <a:off x="1371600" y="471830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Content moderation and secure user access are important.</a:t>
            </a:r>
            <a:endParaRPr lang="en-US" sz="1400" dirty="0"/>
          </a:p>
        </p:txBody>
      </p:sp>
      <p:sp>
        <p:nvSpPr>
          <p:cNvPr id="18" name="Problem Icon Circle"/>
          <p:cNvSpPr/>
          <p:nvPr/>
        </p:nvSpPr>
        <p:spPr>
          <a:xfrm>
            <a:off x="822960" y="5422392"/>
            <a:ext cx="384048" cy="38404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oble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5522976"/>
            <a:ext cx="182880" cy="182880"/>
          </a:xfrm>
          <a:prstGeom prst="rect">
            <a:avLst/>
          </a:prstGeom>
        </p:spPr>
      </p:pic>
      <p:sp>
        <p:nvSpPr>
          <p:cNvPr id="20" name="Problem 4"/>
          <p:cNvSpPr txBox="1"/>
          <p:nvPr/>
        </p:nvSpPr>
        <p:spPr>
          <a:xfrm>
            <a:off x="1371600" y="53400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The platform should remain reliable as usage grows.</a:t>
            </a:r>
            <a:endParaRPr lang="en-US" sz="1400"/>
          </a:p>
        </p:txBody>
      </p:sp>
      <p:sp>
        <p:nvSpPr>
          <p:cNvPr id="21" name="Solution Card"/>
          <p:cNvSpPr/>
          <p:nvPr/>
        </p:nvSpPr>
        <p:spPr>
          <a:xfrm>
            <a:off x="6565392" y="2423160"/>
            <a:ext cx="5074920" cy="3657600"/>
          </a:xfrm>
          <a:prstGeom prst="roundRect">
            <a:avLst>
              <a:gd name="adj" fmla="val 45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olution Header"/>
          <p:cNvSpPr txBox="1"/>
          <p:nvPr/>
        </p:nvSpPr>
        <p:spPr>
          <a:xfrm>
            <a:off x="6839712" y="26060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chemeClr val="accent4"/>
                </a:solidFill>
              </a:rPr>
              <a:t>PROPOSED SOLUTION</a:t>
            </a:r>
            <a:endParaRPr lang="en-US" sz="1100"/>
          </a:p>
          <a:p>
            <a:pPr marL="0" indent="0">
              <a:buNone/>
            </a:pPr>
            <a:r>
              <a:rPr lang="en-US" sz="2200" b="1">
                <a:solidFill>
                  <a:schemeClr val="bg1"/>
                </a:solidFill>
              </a:rPr>
              <a:t>One FANVERSE Platform</a:t>
            </a:r>
            <a:endParaRPr lang="en-US" sz="1100"/>
          </a:p>
        </p:txBody>
      </p:sp>
      <p:sp>
        <p:nvSpPr>
          <p:cNvPr id="23" name="Solution Icon Circle"/>
          <p:cNvSpPr/>
          <p:nvPr/>
        </p:nvSpPr>
        <p:spPr>
          <a:xfrm>
            <a:off x="6839712" y="3557016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Solu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3657600"/>
            <a:ext cx="182880" cy="182880"/>
          </a:xfrm>
          <a:prstGeom prst="rect">
            <a:avLst/>
          </a:prstGeom>
        </p:spPr>
      </p:pic>
      <p:sp>
        <p:nvSpPr>
          <p:cNvPr id="25" name="Solution 1"/>
          <p:cNvSpPr txBox="1"/>
          <p:nvPr/>
        </p:nvSpPr>
        <p:spPr>
          <a:xfrm>
            <a:off x="7388352" y="3474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</a:rPr>
              <a:t>Provide one platform for fan communities and discussions.</a:t>
            </a:r>
            <a:endParaRPr lang="en-US" sz="1400"/>
          </a:p>
        </p:txBody>
      </p:sp>
      <p:sp>
        <p:nvSpPr>
          <p:cNvPr id="26" name="Solution Icon Circle"/>
          <p:cNvSpPr/>
          <p:nvPr/>
        </p:nvSpPr>
        <p:spPr>
          <a:xfrm>
            <a:off x="6839712" y="4178808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6" descr="Soluti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296" y="4279392"/>
            <a:ext cx="182880" cy="182880"/>
          </a:xfrm>
          <a:prstGeom prst="rect">
            <a:avLst/>
          </a:prstGeom>
        </p:spPr>
      </p:pic>
      <p:sp>
        <p:nvSpPr>
          <p:cNvPr id="28" name="Solution 2"/>
          <p:cNvSpPr txBox="1"/>
          <p:nvPr/>
        </p:nvSpPr>
        <p:spPr>
          <a:xfrm>
            <a:off x="7388352" y="40965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</a:rPr>
              <a:t>Let users join channels, share posts, comment, and react.</a:t>
            </a:r>
            <a:endParaRPr lang="en-US" sz="1400"/>
          </a:p>
        </p:txBody>
      </p:sp>
      <p:sp>
        <p:nvSpPr>
          <p:cNvPr id="29" name="Solution Icon Circle"/>
          <p:cNvSpPr/>
          <p:nvPr/>
        </p:nvSpPr>
        <p:spPr>
          <a:xfrm>
            <a:off x="6839712" y="480060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7" descr="Soluti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0296" y="4901184"/>
            <a:ext cx="182880" cy="182880"/>
          </a:xfrm>
          <a:prstGeom prst="rect">
            <a:avLst/>
          </a:prstGeom>
        </p:spPr>
      </p:pic>
      <p:sp>
        <p:nvSpPr>
          <p:cNvPr id="31" name="Solution 3"/>
          <p:cNvSpPr txBox="1"/>
          <p:nvPr/>
        </p:nvSpPr>
        <p:spPr>
          <a:xfrm>
            <a:off x="7388352" y="471830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Support role-based access and content moderation.</a:t>
            </a:r>
            <a:endParaRPr lang="en-US" sz="1400" dirty="0"/>
          </a:p>
        </p:txBody>
      </p:sp>
      <p:sp>
        <p:nvSpPr>
          <p:cNvPr id="32" name="Solution Icon Circle"/>
          <p:cNvSpPr/>
          <p:nvPr/>
        </p:nvSpPr>
        <p:spPr>
          <a:xfrm>
            <a:off x="6839712" y="542239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8" descr="Soluti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0296" y="5522976"/>
            <a:ext cx="182880" cy="182880"/>
          </a:xfrm>
          <a:prstGeom prst="rect">
            <a:avLst/>
          </a:prstGeom>
        </p:spPr>
      </p:pic>
      <p:sp>
        <p:nvSpPr>
          <p:cNvPr id="34" name="Solution 4"/>
          <p:cNvSpPr txBox="1"/>
          <p:nvPr/>
        </p:nvSpPr>
        <p:spPr>
          <a:xfrm>
            <a:off x="7388352" y="53400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Connects fans and creators and provides a dedicated space for them to interact</a:t>
            </a:r>
          </a:p>
        </p:txBody>
      </p:sp>
      <p:sp>
        <p:nvSpPr>
          <p:cNvPr id="35" name="Transition Circle"/>
          <p:cNvSpPr/>
          <p:nvPr/>
        </p:nvSpPr>
        <p:spPr>
          <a:xfrm>
            <a:off x="5730545" y="3886200"/>
            <a:ext cx="731520" cy="7315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9" descr="Transition from problem to soluti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8289" y="4123944"/>
            <a:ext cx="256032" cy="256032"/>
          </a:xfrm>
          <a:prstGeom prst="rect">
            <a:avLst/>
          </a:prstGeom>
        </p:spPr>
      </p:pic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FANVERSE Technology Stack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7906D-E86F-42FA-E261-C54233352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334" y="1054687"/>
            <a:ext cx="9263332" cy="52106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1"/>
                </a:solidFill>
              </a:rPr>
              <a:t>General System Flow Diagram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4" name="Picture 3" descr="Content-to-Kafka%20Architecture%20Flow.png">
            <a:extLst>
              <a:ext uri="{FF2B5EF4-FFF2-40B4-BE49-F238E27FC236}">
                <a16:creationId xmlns:a16="http://schemas.microsoft.com/office/drawing/2014/main" id="{0E65EABB-2B3F-32DE-4A1D-35C4C2199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525" y="1051560"/>
            <a:ext cx="8324469" cy="51435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Frontend Architecture</a:t>
            </a:r>
            <a:endParaRPr lang="en-US"/>
          </a:p>
        </p:txBody>
      </p:sp>
      <p:sp>
        <p:nvSpPr>
          <p:cNvPr id="3" name="Image Placeholder"/>
          <p:cNvSpPr/>
          <p:nvPr/>
        </p:nvSpPr>
        <p:spPr>
          <a:xfrm>
            <a:off x="1789024" y="1188720"/>
            <a:ext cx="8613648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tx2"/>
                </a:solidFill>
              </a:rPr>
              <a:t>Insert frontend architecture diagram here</a:t>
            </a:r>
            <a:endParaRPr lang="en-US" sz="1800"/>
          </a:p>
          <a:p>
            <a:pPr marL="0" indent="0" algn="ctr">
              <a:buNone/>
            </a:pPr>
            <a:r>
              <a:rPr lang="en-US" sz="1200">
                <a:solidFill>
                  <a:schemeClr val="tx2"/>
                </a:solidFill>
              </a:rPr>
              <a:t>Recommended: 16:9 image. Resize this frame to match your diagram.</a:t>
            </a:r>
            <a:endParaRPr lang="en-US" sz="1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6056A-164A-446D-A4DF-633036DAF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254" y="1057023"/>
            <a:ext cx="9333223" cy="49776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Backend Microservices Architecture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B38D5-0E53-3D06-6B47-F3A0E36EF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66" y="1054661"/>
            <a:ext cx="9620794" cy="48555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DevOps and CI/CD Architecture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3" name="Picture 2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3A06AF71-39A4-6D51-E551-267FB5378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131" y="1047515"/>
            <a:ext cx="9731737" cy="48956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AWS EC2 Deployment Architecture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5D1109-9065-EFFF-398B-7DD29AE2F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630" y="1055626"/>
            <a:ext cx="9618511" cy="50431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6689E-4E62-ECA2-7829-EB42C3694A04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 algn="ctr"/>
            <a:r>
              <a:rPr lang="en-US" dirty="0"/>
              <a:t>Roles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8A790-CBDD-2266-2F6D-3055A682DC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10</a:t>
            </a:fld>
            <a:endParaRPr lang="en-US"/>
          </a:p>
        </p:txBody>
      </p:sp>
      <p:pic>
        <p:nvPicPr>
          <p:cNvPr id="4" name="Picture 3" descr="Admin%20Permissions%20Hierarchy.png">
            <a:extLst>
              <a:ext uri="{FF2B5EF4-FFF2-40B4-BE49-F238E27FC236}">
                <a16:creationId xmlns:a16="http://schemas.microsoft.com/office/drawing/2014/main" id="{40546A79-5020-5BAA-7CAD-64B05C3C3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948" y="1051560"/>
            <a:ext cx="7430103" cy="49534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491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User Workflow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3" name="Picture 2" descr="Fanverse User Application Flowchart.png">
            <a:extLst>
              <a:ext uri="{FF2B5EF4-FFF2-40B4-BE49-F238E27FC236}">
                <a16:creationId xmlns:a16="http://schemas.microsoft.com/office/drawing/2014/main" id="{A65576CD-A38B-EF4B-CA94-425F39DCC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478" y="1051560"/>
            <a:ext cx="8927043" cy="50354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Admin Workflow</a:t>
            </a:r>
            <a:endParaRPr lang="en-US"/>
          </a:p>
        </p:txBody>
      </p:sp>
      <p:sp>
        <p:nvSpPr>
          <p:cNvPr id="3" name="Image Placeholder"/>
          <p:cNvSpPr/>
          <p:nvPr/>
        </p:nvSpPr>
        <p:spPr>
          <a:xfrm>
            <a:off x="1789024" y="1188720"/>
            <a:ext cx="8613648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tx2"/>
                </a:solidFill>
              </a:rPr>
              <a:t>Insert admin workflow diagram here</a:t>
            </a:r>
            <a:endParaRPr lang="en-US" sz="1800"/>
          </a:p>
          <a:p>
            <a:pPr marL="0" indent="0" algn="ctr">
              <a:buNone/>
            </a:pPr>
            <a:r>
              <a:rPr lang="en-US" sz="1200">
                <a:solidFill>
                  <a:schemeClr val="tx2"/>
                </a:solidFill>
              </a:rPr>
              <a:t>Recommended: 16:9 image. Resize this frame to match your diagram.</a:t>
            </a:r>
            <a:endParaRPr lang="en-US" sz="1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1952C-1F88-260C-35F1-D847B4991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483" y="1051560"/>
            <a:ext cx="8832730" cy="49834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Sub-Admin Workflow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65052B-42F4-80D5-D247-90F1606CF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965" y="1051560"/>
            <a:ext cx="9144159" cy="5107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Moderator Workflow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6" name="Picture 5" descr="Fanverse Moderator Workflow Flowchart.png">
            <a:extLst>
              <a:ext uri="{FF2B5EF4-FFF2-40B4-BE49-F238E27FC236}">
                <a16:creationId xmlns:a16="http://schemas.microsoft.com/office/drawing/2014/main" id="{1BD0522E-ABDD-0535-CEE9-E646750E2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75" y="1051560"/>
            <a:ext cx="8009890" cy="51435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30926" y="-220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Non-Functional Requirements and Testing Reports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393F7F-12F9-7FFC-6D1B-C1C1FB04A823}"/>
              </a:ext>
            </a:extLst>
          </p:cNvPr>
          <p:cNvSpPr txBox="1"/>
          <p:nvPr/>
        </p:nvSpPr>
        <p:spPr>
          <a:xfrm>
            <a:off x="460367" y="729314"/>
            <a:ext cx="45708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b="1" err="1"/>
              <a:t>Jacoco</a:t>
            </a:r>
            <a:r>
              <a:rPr lang="en-US" sz="2500" b="1"/>
              <a:t> code coverage reports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2FA195A-AACE-4E62-AD25-40F4B15257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528" b="2775"/>
          <a:stretch>
            <a:fillRect/>
          </a:stretch>
        </p:blipFill>
        <p:spPr>
          <a:xfrm>
            <a:off x="816747" y="1206368"/>
            <a:ext cx="10059533" cy="25284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A0D052-7FE1-2DA5-EC29-907A090E6C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6056"/>
          <a:stretch>
            <a:fillRect/>
          </a:stretch>
        </p:blipFill>
        <p:spPr>
          <a:xfrm>
            <a:off x="820915" y="3767338"/>
            <a:ext cx="10075685" cy="24702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157A77-7640-3BAF-705B-FE064D5587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30" b="12709"/>
          <a:stretch>
            <a:fillRect/>
          </a:stretch>
        </p:blipFill>
        <p:spPr>
          <a:xfrm>
            <a:off x="868950" y="638219"/>
            <a:ext cx="10454365" cy="27998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9B0ADB-1670-0200-13C7-AFC4F2AD0B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"/>
          <a:stretch>
            <a:fillRect/>
          </a:stretch>
        </p:blipFill>
        <p:spPr>
          <a:xfrm>
            <a:off x="872862" y="3424023"/>
            <a:ext cx="10445997" cy="26739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13">
            <a:extLst>
              <a:ext uri="{FF2B5EF4-FFF2-40B4-BE49-F238E27FC236}">
                <a16:creationId xmlns:a16="http://schemas.microsoft.com/office/drawing/2014/main" id="{E9F89562-0565-FDD6-E6F3-8328E887C2AA}"/>
              </a:ext>
            </a:extLst>
          </p:cNvPr>
          <p:cNvSpPr txBox="1"/>
          <p:nvPr/>
        </p:nvSpPr>
        <p:spPr>
          <a:xfrm>
            <a:off x="1112616" y="3421554"/>
            <a:ext cx="2389517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Community-service</a:t>
            </a:r>
            <a:endParaRPr lang="en-US" sz="1200" b="1">
              <a:ea typeface="Calibri"/>
              <a:cs typeface="Calibri"/>
            </a:endParaRPr>
          </a:p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31FE99A-0A90-246C-068B-059C9CCFF0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0F643-5B16-DC6D-8DDE-57CFAAD5C8F2}"/>
              </a:ext>
            </a:extLst>
          </p:cNvPr>
          <p:cNvSpPr txBox="1"/>
          <p:nvPr/>
        </p:nvSpPr>
        <p:spPr>
          <a:xfrm>
            <a:off x="335280" y="5080"/>
            <a:ext cx="6096000" cy="7540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algn="l" rtl="0">
              <a:buFont typeface="Arial,Sans-Serif"/>
              <a:buChar char="•"/>
            </a:pPr>
            <a:r>
              <a:rPr lang="en-US" sz="2500" b="1" i="0" u="none" strike="noStrike" baseline="0">
                <a:solidFill>
                  <a:srgbClr val="151B2E"/>
                </a:solidFill>
                <a:latin typeface="Calibri"/>
                <a:ea typeface="Arial"/>
                <a:cs typeface="Arial"/>
              </a:rPr>
              <a:t>Jacoco code coverage reports</a:t>
            </a:r>
            <a:r>
              <a:rPr lang="en-US" sz="2500" b="0" i="0">
                <a:solidFill>
                  <a:srgbClr val="151B2E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08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27C-229A-A002-9C10-617101DD0C3D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/>
              <a:t>SonarQube Reports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48AC0EA-69CA-B81E-21CD-2A9CD269CFD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17</a:t>
            </a:fld>
            <a:endParaRPr lang="en-US"/>
          </a:p>
        </p:txBody>
      </p:sp>
      <p:pic>
        <p:nvPicPr>
          <p:cNvPr id="3" name="Picture 2" descr="updatedsonarqube.PNG">
            <a:extLst>
              <a:ext uri="{FF2B5EF4-FFF2-40B4-BE49-F238E27FC236}">
                <a16:creationId xmlns:a16="http://schemas.microsoft.com/office/drawing/2014/main" id="{75119A4D-EDB2-BAD6-72F2-4DA3C9A29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050" y="1051560"/>
            <a:ext cx="9763899" cy="44700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31418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A57F3-F83D-147D-AB28-A97438C5C1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A664-A4FD-A55B-CCB0-C035CA4B7BDF}"/>
              </a:ext>
            </a:extLst>
          </p:cNvPr>
          <p:cNvSpPr txBox="1"/>
          <p:nvPr/>
        </p:nvSpPr>
        <p:spPr>
          <a:xfrm>
            <a:off x="599440" y="218440"/>
            <a:ext cx="6096000" cy="7540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algn="l" rtl="0">
              <a:buFont typeface="Arial,Sans-Serif"/>
              <a:buChar char="•"/>
            </a:pPr>
            <a:r>
              <a:rPr lang="en-US" sz="2500" b="1" i="0" u="none" strike="noStrike" baseline="0">
                <a:solidFill>
                  <a:srgbClr val="151B2E"/>
                </a:solidFill>
                <a:latin typeface="Calibri"/>
                <a:ea typeface="Arial"/>
                <a:cs typeface="Arial"/>
              </a:rPr>
              <a:t>SonarQube Reports</a:t>
            </a:r>
            <a:r>
              <a:rPr lang="en-US" sz="2500" b="0" i="0">
                <a:solidFill>
                  <a:srgbClr val="151B2E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DC61B-EE1C-9897-AB93-DF91D42C9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357" y="774390"/>
            <a:ext cx="9657286" cy="26546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A7F275-7B8A-D2FC-62EA-6532D3E2AC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941"/>
          <a:stretch>
            <a:fillRect/>
          </a:stretch>
        </p:blipFill>
        <p:spPr>
          <a:xfrm>
            <a:off x="1267357" y="3506724"/>
            <a:ext cx="9657286" cy="27706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67700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A7FA7-4925-E61D-6585-CB94CF337B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19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7E8F6CA-F215-2C54-17B7-1FC8DABBC0DC}"/>
              </a:ext>
            </a:extLst>
          </p:cNvPr>
          <p:cNvGrpSpPr/>
          <p:nvPr/>
        </p:nvGrpSpPr>
        <p:grpSpPr>
          <a:xfrm>
            <a:off x="1656080" y="911742"/>
            <a:ext cx="8879840" cy="5233634"/>
            <a:chOff x="1808480" y="911742"/>
            <a:chExt cx="8879840" cy="523363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723DC9-CF2A-02AC-3BE7-FA55CA7A1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8480" y="3648863"/>
              <a:ext cx="8879840" cy="249651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D49383-CF1C-4C1F-12A0-B3B0E9DB4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8480" y="911742"/>
              <a:ext cx="8879840" cy="27316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193F102-C7DB-5CB0-4B8E-07310405D239}"/>
              </a:ext>
            </a:extLst>
          </p:cNvPr>
          <p:cNvSpPr txBox="1"/>
          <p:nvPr/>
        </p:nvSpPr>
        <p:spPr>
          <a:xfrm>
            <a:off x="538480" y="269240"/>
            <a:ext cx="6096000" cy="7540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algn="l" rtl="0">
              <a:buFont typeface="Arial,Sans-Serif"/>
              <a:buChar char="•"/>
            </a:pPr>
            <a:r>
              <a:rPr lang="en-US" sz="2500" b="1" i="0" u="none" strike="noStrike" baseline="0">
                <a:solidFill>
                  <a:srgbClr val="151B2E"/>
                </a:solidFill>
                <a:latin typeface="Calibri"/>
                <a:ea typeface="Arial"/>
                <a:cs typeface="Arial"/>
              </a:rPr>
              <a:t>SonarQube Reports</a:t>
            </a:r>
            <a:r>
              <a:rPr lang="en-US" sz="2500" b="0" i="0">
                <a:solidFill>
                  <a:srgbClr val="151B2E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8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0A8EA-94F0-DC9B-981C-BD2D006EFE2B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 wrap="square" lIns="91440" tIns="45720" rIns="91440" bIns="45720" rtlCol="0" anchor="t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/>
              <a:t>JMeter</a:t>
            </a:r>
            <a:r>
              <a:rPr lang="en-US" sz="2500" dirty="0"/>
              <a:t> Report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5F88AF-35F4-FF48-E14F-44A57FFF786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C63ED6-0A6F-7F84-BE16-0A6092F9A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93" y="944581"/>
            <a:ext cx="9593014" cy="52966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32521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1CB58-029B-EB3B-80C3-3C371070A296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74136" cy="454430"/>
          </a:xfrm>
        </p:spPr>
        <p:txBody>
          <a:bodyPr wrap="square" lIns="91440" tIns="45720" rIns="91440" bIns="45720" rtlCol="0" anchor="t"/>
          <a:lstStyle/>
          <a:p>
            <a:pPr marL="342900" indent="-342900">
              <a:lnSpc>
                <a:spcPct val="90000"/>
              </a:lnSpc>
              <a:buFont typeface="Arial"/>
              <a:buChar char="•"/>
            </a:pPr>
            <a:r>
              <a:rPr lang="en-US" sz="2500">
                <a:ea typeface="Calibri"/>
                <a:cs typeface="Calibri"/>
              </a:rPr>
              <a:t>LightHouse Report</a:t>
            </a:r>
            <a:endParaRPr lang="en-US" sz="2500" b="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E38FB2-2AFC-36B5-8709-7AE39FA16BD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B924C0-41FD-239C-98BD-DD2EAB011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3" y="895783"/>
            <a:ext cx="8982075" cy="5343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9152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0CBAD-6B5E-9801-66E4-A8AB148B5ABB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/>
              <a:t>Wave Report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CDE7EA-8311-318B-5C5F-3F95CF7D18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7CF9F-8C02-3741-0B73-574D4BA19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881" y="958293"/>
            <a:ext cx="9082238" cy="53925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8984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1341B-76A5-E00E-392D-804D22D279DF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/>
              <a:t>Prometheus Monitoring</a:t>
            </a:r>
            <a:r>
              <a:rPr lang="en-US" sz="2500" b="0"/>
              <a:t>​</a:t>
            </a:r>
            <a:endParaRPr lang="en-US" sz="25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21BC60-0166-EB41-1722-FF7280899CB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1FAFC9-2DBE-D321-484C-41877CA4C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80" y="1051560"/>
            <a:ext cx="9006840" cy="50020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57611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50C0C-55BE-C59F-B375-ACD4AC12AD45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/>
              <a:t>Grafana Monitoring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47A977-1D79-0A8C-CA28-8F5C23C7B9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24</a:t>
            </a:fld>
            <a:endParaRPr lang="en-US"/>
          </a:p>
        </p:txBody>
      </p:sp>
      <p:pic>
        <p:nvPicPr>
          <p:cNvPr id="4" name="Picture 3" descr="Capture_grafana.PNG">
            <a:extLst>
              <a:ext uri="{FF2B5EF4-FFF2-40B4-BE49-F238E27FC236}">
                <a16:creationId xmlns:a16="http://schemas.microsoft.com/office/drawing/2014/main" id="{B001A4A3-E0A3-064D-BD66-64BB0D477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143" y="989053"/>
            <a:ext cx="9141714" cy="48798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56779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Challenges and Learnings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70F4EF-87DE-B058-6029-7ABDC464B6FC}"/>
              </a:ext>
            </a:extLst>
          </p:cNvPr>
          <p:cNvSpPr/>
          <p:nvPr/>
        </p:nvSpPr>
        <p:spPr>
          <a:xfrm>
            <a:off x="681487" y="1190445"/>
            <a:ext cx="5072332" cy="465826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2E0F36-6CFD-2837-F930-9AB99617575C}"/>
              </a:ext>
            </a:extLst>
          </p:cNvPr>
          <p:cNvSpPr/>
          <p:nvPr/>
        </p:nvSpPr>
        <p:spPr>
          <a:xfrm>
            <a:off x="6096000" y="1190445"/>
            <a:ext cx="5264988" cy="463752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B7908-08AE-A386-13C6-FC8605866F44}"/>
              </a:ext>
            </a:extLst>
          </p:cNvPr>
          <p:cNvSpPr txBox="1"/>
          <p:nvPr/>
        </p:nvSpPr>
        <p:spPr>
          <a:xfrm>
            <a:off x="6377795" y="1578482"/>
            <a:ext cx="47013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ysClr val="windowText" lastClr="000000"/>
                </a:solidFill>
              </a:rPr>
              <a:t>Key Learnings</a:t>
            </a:r>
          </a:p>
          <a:p>
            <a:pPr algn="ctr"/>
            <a:endParaRPr lang="en-US">
              <a:solidFill>
                <a:sysClr val="windowText" lastClr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/>
              <a:t>Designing and integrating a modular microservices architecture using Spring Boot and Eureka.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Implementing JWT authentication, OAuth concepts, and role-based access control.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Containerizing microservices using Docker and orchestrating them with Docker Compose.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Automating build and deployment workflows using Jenkins CI/CD and deploying on AWS EC2.</a:t>
            </a: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C0588-B6E2-9FA5-5796-6D3751B7FA97}"/>
              </a:ext>
            </a:extLst>
          </p:cNvPr>
          <p:cNvSpPr txBox="1"/>
          <p:nvPr/>
        </p:nvSpPr>
        <p:spPr>
          <a:xfrm>
            <a:off x="1078303" y="1580649"/>
            <a:ext cx="408029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Challenges Faced</a:t>
            </a:r>
          </a:p>
          <a:p>
            <a:pPr algn="ctr"/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Limited AWS IAM permissions restricted access to services like RDS and ECR.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Configuring a master Jenkins pipeline for automated deployment to EC2.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Troubleshooting Docker networking, port conflicts, and service startup dependencies.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Resolving CORS errors in local and Docker environments.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5B852B-9AFD-1CCA-9F1F-D82B2CBDFB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26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1C79E-7F78-FE74-957F-A6F5B9F97377}"/>
              </a:ext>
            </a:extLst>
          </p:cNvPr>
          <p:cNvSpPr/>
          <p:nvPr/>
        </p:nvSpPr>
        <p:spPr>
          <a:xfrm>
            <a:off x="1364411" y="2053087"/>
            <a:ext cx="9463178" cy="161400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b="1" dirty="0">
                <a:solidFill>
                  <a:schemeClr val="tx1"/>
                </a:solidFill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0417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947B7CD-FBEE-ABF7-B631-9D914EFCF208}"/>
              </a:ext>
            </a:extLst>
          </p:cNvPr>
          <p:cNvSpPr/>
          <p:nvPr/>
        </p:nvSpPr>
        <p:spPr>
          <a:xfrm>
            <a:off x="1364411" y="2053087"/>
            <a:ext cx="9463178" cy="161400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98D70-8FBD-F6C2-06B4-0230760E8D11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63880" y="2459391"/>
            <a:ext cx="11064240" cy="731520"/>
          </a:xfrm>
        </p:spPr>
        <p:txBody>
          <a:bodyPr/>
          <a:lstStyle/>
          <a:p>
            <a:pPr algn="ctr"/>
            <a:r>
              <a:rPr lang="en-US" sz="4000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BDC60-6235-D4CA-99C5-070D6A5743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0302"/>
      </p:ext>
    </p:extLst>
  </p:cSld>
  <p:clrMapOvr>
    <a:masterClrMapping/>
  </p:clrMapOvr>
</p:sld>
</file>

<file path=ppt/theme/theme1.xml><?xml version="1.0" encoding="utf-8"?>
<a:theme xmlns:a="http://schemas.openxmlformats.org/drawingml/2006/main" name="FANVERSE">
  <a:themeElements>
    <a:clrScheme name="FANVERSE">
      <a:dk1>
        <a:srgbClr val="151B2E"/>
      </a:dk1>
      <a:lt1>
        <a:srgbClr val="FFFFFF"/>
      </a:lt1>
      <a:dk2>
        <a:srgbClr val="5B6272"/>
      </a:dk2>
      <a:lt2>
        <a:srgbClr val="FDF2F2"/>
      </a:lt2>
      <a:accent1>
        <a:srgbClr val="A81D2E"/>
      </a:accent1>
      <a:accent2>
        <a:srgbClr val="151B2E"/>
      </a:accent2>
      <a:accent3>
        <a:srgbClr val="F3CDD2"/>
      </a:accent3>
      <a:accent4>
        <a:srgbClr val="E3939D"/>
      </a:accent4>
      <a:accent5>
        <a:srgbClr val="5B6272"/>
      </a:accent5>
      <a:accent6>
        <a:srgbClr val="FBE3E5"/>
      </a:accent6>
      <a:hlink>
        <a:srgbClr val="A81D2E"/>
      </a:hlink>
      <a:folHlink>
        <a:srgbClr val="5B6272"/>
      </a:folHlink>
    </a:clrScheme>
    <a:fontScheme name="FANVE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454</Words>
  <Application>Microsoft Office PowerPoint</Application>
  <PresentationFormat>Widescreen</PresentationFormat>
  <Paragraphs>130</Paragraphs>
  <Slides>27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Arial,Sans-Serif</vt:lpstr>
      <vt:lpstr>Calibri</vt:lpstr>
      <vt:lpstr>FANVERSE</vt:lpstr>
      <vt:lpstr>FANVERSE</vt:lpstr>
      <vt:lpstr>Presentation Contents</vt:lpstr>
      <vt:lpstr>Introduction, Problem Statement and Solution</vt:lpstr>
      <vt:lpstr>FANVERSE Technology Stack</vt:lpstr>
      <vt:lpstr>General System Flow Diagram</vt:lpstr>
      <vt:lpstr>Frontend Architecture</vt:lpstr>
      <vt:lpstr>Backend Microservices Architecture</vt:lpstr>
      <vt:lpstr>DevOps and CI/CD Architecture</vt:lpstr>
      <vt:lpstr>AWS EC2 Deployment Architecture</vt:lpstr>
      <vt:lpstr>Roles</vt:lpstr>
      <vt:lpstr>User Workflow</vt:lpstr>
      <vt:lpstr>Admin Workflow</vt:lpstr>
      <vt:lpstr>Sub-Admin Workflow</vt:lpstr>
      <vt:lpstr>Moderator Workflow</vt:lpstr>
      <vt:lpstr>Non-Functional Requirements and Testing Reports</vt:lpstr>
      <vt:lpstr>PowerPoint Presentation</vt:lpstr>
      <vt:lpstr>SonarQube Reports</vt:lpstr>
      <vt:lpstr>PowerPoint Presentation</vt:lpstr>
      <vt:lpstr>PowerPoint Presentation</vt:lpstr>
      <vt:lpstr>JMeter Report</vt:lpstr>
      <vt:lpstr>LightHouse Report </vt:lpstr>
      <vt:lpstr>Wave Report</vt:lpstr>
      <vt:lpstr>Prometheus Monitoring​</vt:lpstr>
      <vt:lpstr>Grafana Monitoring</vt:lpstr>
      <vt:lpstr>Challenges and Learnings</vt:lpstr>
      <vt:lpstr>PowerPoint Presentation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FANVERSE – Community Application</dc:title>
  <dc:subject>PptxGenJS Presentation</dc:subject>
  <dc:creator>FANVERSE Team</dc:creator>
  <cp:lastModifiedBy>Shetti, VaishnaviArun</cp:lastModifiedBy>
  <cp:revision>100</cp:revision>
  <dcterms:created xsi:type="dcterms:W3CDTF">2026-10-16T10:54:23Z</dcterms:created>
  <dcterms:modified xsi:type="dcterms:W3CDTF">2026-10-23T08:20:37Z</dcterms:modified>
</cp:coreProperties>
</file>